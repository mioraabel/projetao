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1"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70" r:id="rId14"/>
    <p:sldId id="272" r:id="rId15"/>
    <p:sldId id="273" r:id="rId16"/>
    <p:sldId id="274" r:id="rId17"/>
    <p:sldId id="276" r:id="rId18"/>
    <p:sldId id="278" r:id="rId19"/>
    <p:sldId id="280" r:id="rId20"/>
    <p:sldId id="28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8851"/>
    <a:srgbClr val="FFE7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sorterViewPr>
    <p:cViewPr>
      <p:scale>
        <a:sx n="200" d="100"/>
        <a:sy n="200" d="100"/>
      </p:scale>
      <p:origin x="0" y="-307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AD347D-5ACD-4C99-B74B-A9C85AD731AF}" type="datetimeFigureOut">
              <a:rPr lang="en-US" smtClean="0"/>
              <a:t>12/25/2025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65814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526687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796027F-7875-4030-9381-8BD8C4F21935}" type="datetimeFigureOut">
              <a:rPr lang="en-US" smtClean="0"/>
              <a:t>12/25/2025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74967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18255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4005740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714461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72121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0011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09418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87619261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4214286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771351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09289427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00454455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AAD347D-5ACD-4C99-B74B-A9C85AD731AF}" type="datetimeFigureOut">
              <a:rPr lang="en-US" smtClean="0"/>
              <a:t>12/25/2025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79586086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7310243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195426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AD347D-5ACD-4C99-B74B-A9C85AD731AF}" type="datetimeFigureOut">
              <a:rPr lang="en-US" smtClean="0"/>
              <a:t>12/25/2025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1933786001"/>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979CB-C751-4F42-A6CC-51F002F96075}"/>
              </a:ext>
            </a:extLst>
          </p:cNvPr>
          <p:cNvSpPr>
            <a:spLocks noGrp="1"/>
          </p:cNvSpPr>
          <p:nvPr>
            <p:ph type="ctrTitle"/>
          </p:nvPr>
        </p:nvSpPr>
        <p:spPr>
          <a:xfrm>
            <a:off x="2954455" y="480832"/>
            <a:ext cx="6815188" cy="2387600"/>
          </a:xfrm>
        </p:spPr>
        <p:txBody>
          <a:bodyPr/>
          <a:lstStyle/>
          <a:p>
            <a:r>
              <a:rPr lang="fr-FR" sz="5400" b="1" dirty="0"/>
              <a:t>Rapport de projet </a:t>
            </a:r>
            <a:br>
              <a:rPr lang="fr-FR" dirty="0"/>
            </a:br>
            <a:endParaRPr lang="fr-FR" dirty="0"/>
          </a:p>
        </p:txBody>
      </p:sp>
      <p:sp>
        <p:nvSpPr>
          <p:cNvPr id="4" name="Rectangle 3">
            <a:extLst>
              <a:ext uri="{FF2B5EF4-FFF2-40B4-BE49-F238E27FC236}">
                <a16:creationId xmlns:a16="http://schemas.microsoft.com/office/drawing/2014/main" id="{E9FD3099-546E-4C34-B345-BC32C527BBAE}"/>
              </a:ext>
            </a:extLst>
          </p:cNvPr>
          <p:cNvSpPr/>
          <p:nvPr/>
        </p:nvSpPr>
        <p:spPr>
          <a:xfrm>
            <a:off x="5372996" y="5831947"/>
            <a:ext cx="1978106" cy="390684"/>
          </a:xfrm>
          <a:prstGeom prst="rect">
            <a:avLst/>
          </a:prstGeom>
        </p:spPr>
        <p:txBody>
          <a:bodyPr wrap="none">
            <a:spAutoFit/>
          </a:bodyPr>
          <a:lstStyle/>
          <a:p>
            <a:pPr algn="ctr">
              <a:lnSpc>
                <a:spcPct val="115000"/>
              </a:lnSpc>
              <a:spcAft>
                <a:spcPts val="800"/>
              </a:spcAft>
            </a:pPr>
            <a:r>
              <a:rPr lang="fr-FR" b="1" u="sng" dirty="0">
                <a:latin typeface="Times New Roman" panose="02020603050405020304" pitchFamily="18" charset="0"/>
                <a:ea typeface="Calibri" panose="020F0502020204030204" pitchFamily="34" charset="0"/>
                <a:cs typeface="Times New Roman" panose="02020603050405020304" pitchFamily="18" charset="0"/>
              </a:rPr>
              <a:t>Parcours :</a:t>
            </a:r>
            <a:r>
              <a:rPr lang="fr-FR" dirty="0">
                <a:latin typeface="Times New Roman" panose="02020603050405020304" pitchFamily="18" charset="0"/>
                <a:ea typeface="Calibri" panose="020F0502020204030204" pitchFamily="34" charset="0"/>
                <a:cs typeface="Times New Roman" panose="02020603050405020304" pitchFamily="18" charset="0"/>
              </a:rPr>
              <a:t> LST GI</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ous-titre 2">
            <a:extLst>
              <a:ext uri="{FF2B5EF4-FFF2-40B4-BE49-F238E27FC236}">
                <a16:creationId xmlns:a16="http://schemas.microsoft.com/office/drawing/2014/main" id="{C63E9F82-E511-416D-ACCC-3FE0D6A2A8D5}"/>
              </a:ext>
            </a:extLst>
          </p:cNvPr>
          <p:cNvSpPr txBox="1">
            <a:spLocks/>
          </p:cNvSpPr>
          <p:nvPr/>
        </p:nvSpPr>
        <p:spPr>
          <a:xfrm>
            <a:off x="8044615" y="3850690"/>
            <a:ext cx="4947888" cy="1655762"/>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endParaRPr lang="fr-FR" dirty="0"/>
          </a:p>
          <a:p>
            <a:endParaRPr lang="fr-FR" dirty="0"/>
          </a:p>
        </p:txBody>
      </p:sp>
      <p:sp>
        <p:nvSpPr>
          <p:cNvPr id="9" name="Rectangle 8">
            <a:extLst>
              <a:ext uri="{FF2B5EF4-FFF2-40B4-BE49-F238E27FC236}">
                <a16:creationId xmlns:a16="http://schemas.microsoft.com/office/drawing/2014/main" id="{FB5EB0EC-EA35-4F52-A66F-77EC2DDFD409}"/>
              </a:ext>
            </a:extLst>
          </p:cNvPr>
          <p:cNvSpPr/>
          <p:nvPr/>
        </p:nvSpPr>
        <p:spPr>
          <a:xfrm>
            <a:off x="2085473" y="3729154"/>
            <a:ext cx="6096000" cy="1632755"/>
          </a:xfrm>
          <a:prstGeom prst="rect">
            <a:avLst/>
          </a:prstGeom>
        </p:spPr>
        <p:txBody>
          <a:bodyPr>
            <a:spAutoFit/>
          </a:bodyPr>
          <a:lstStyle/>
          <a:p>
            <a:pPr>
              <a:lnSpc>
                <a:spcPct val="115000"/>
              </a:lnSpc>
              <a:spcAft>
                <a:spcPts val="800"/>
              </a:spcAft>
            </a:pPr>
            <a:r>
              <a:rPr lang="fr-FR" b="1" dirty="0">
                <a:latin typeface="Times New Roman" panose="02020603050405020304" pitchFamily="18" charset="0"/>
                <a:ea typeface="Calibri" panose="020F0502020204030204" pitchFamily="34" charset="0"/>
                <a:cs typeface="Times New Roman" panose="02020603050405020304" pitchFamily="18" charset="0"/>
              </a:rPr>
              <a:t>Réalisé par :								</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fr-FR" dirty="0">
                <a:latin typeface="Times New Roman" panose="02020603050405020304" pitchFamily="18" charset="0"/>
                <a:ea typeface="Calibri" panose="020F0502020204030204" pitchFamily="34" charset="0"/>
                <a:cs typeface="Times New Roman" panose="02020603050405020304" pitchFamily="18" charset="0"/>
              </a:rPr>
              <a:t>- KEITA Demba Fallo</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fr-FR" dirty="0">
                <a:latin typeface="Times New Roman" panose="02020603050405020304" pitchFamily="18" charset="0"/>
                <a:ea typeface="Calibri" panose="020F0502020204030204" pitchFamily="34" charset="0"/>
                <a:cs typeface="Times New Roman" panose="02020603050405020304" pitchFamily="18" charset="0"/>
              </a:rPr>
              <a:t>- RAKOTOARIMANANA </a:t>
            </a:r>
            <a:r>
              <a:rPr lang="fr-FR" dirty="0" err="1">
                <a:latin typeface="Times New Roman" panose="02020603050405020304" pitchFamily="18" charset="0"/>
                <a:ea typeface="Calibri" panose="020F0502020204030204" pitchFamily="34" charset="0"/>
                <a:cs typeface="Times New Roman" panose="02020603050405020304" pitchFamily="18" charset="0"/>
              </a:rPr>
              <a:t>Mioranirina</a:t>
            </a:r>
            <a:r>
              <a:rPr lang="fr-FR" dirty="0">
                <a:latin typeface="Times New Roman" panose="02020603050405020304" pitchFamily="18" charset="0"/>
                <a:ea typeface="Calibri" panose="020F0502020204030204" pitchFamily="34" charset="0"/>
                <a:cs typeface="Times New Roman" panose="02020603050405020304" pitchFamily="18" charset="0"/>
              </a:rPr>
              <a:t> Abel</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r>
              <a:rPr lang="fr-FR" dirty="0">
                <a:latin typeface="Times New Roman" panose="02020603050405020304" pitchFamily="18" charset="0"/>
                <a:ea typeface="Calibri" panose="020F0502020204030204" pitchFamily="34" charset="0"/>
              </a:rPr>
              <a:t>- SANGARE Yacouba</a:t>
            </a:r>
            <a:endParaRPr lang="fr-FR" dirty="0"/>
          </a:p>
        </p:txBody>
      </p:sp>
      <p:sp>
        <p:nvSpPr>
          <p:cNvPr id="10" name="Rectangle 9">
            <a:extLst>
              <a:ext uri="{FF2B5EF4-FFF2-40B4-BE49-F238E27FC236}">
                <a16:creationId xmlns:a16="http://schemas.microsoft.com/office/drawing/2014/main" id="{B4FDDBDC-77A2-4A03-9AB5-1725389CDEA7}"/>
              </a:ext>
            </a:extLst>
          </p:cNvPr>
          <p:cNvSpPr/>
          <p:nvPr/>
        </p:nvSpPr>
        <p:spPr>
          <a:xfrm>
            <a:off x="9111917" y="3729154"/>
            <a:ext cx="2409524" cy="1448923"/>
          </a:xfrm>
          <a:prstGeom prst="rect">
            <a:avLst/>
          </a:prstGeom>
        </p:spPr>
        <p:txBody>
          <a:bodyPr wrap="square">
            <a:spAutoFit/>
          </a:bodyPr>
          <a:lstStyle/>
          <a:p>
            <a:pPr>
              <a:lnSpc>
                <a:spcPct val="115000"/>
              </a:lnSpc>
              <a:spcAft>
                <a:spcPts val="800"/>
              </a:spcAft>
            </a:pPr>
            <a:r>
              <a:rPr lang="fr-FR" b="1" dirty="0">
                <a:latin typeface="Times New Roman" panose="02020603050405020304" pitchFamily="18" charset="0"/>
                <a:ea typeface="Calibri" panose="020F0502020204030204" pitchFamily="34" charset="0"/>
                <a:cs typeface="Times New Roman" panose="02020603050405020304" pitchFamily="18" charset="0"/>
              </a:rPr>
              <a:t>Encadré par:</a:t>
            </a:r>
            <a:br>
              <a:rPr lang="fr-FR" b="1" dirty="0">
                <a:latin typeface="Times New Roman" panose="02020603050405020304" pitchFamily="18" charset="0"/>
                <a:ea typeface="Calibri" panose="020F0502020204030204" pitchFamily="34" charset="0"/>
                <a:cs typeface="Times New Roman" panose="02020603050405020304" pitchFamily="18" charset="0"/>
              </a:rPr>
            </a:br>
            <a:r>
              <a:rPr lang="fr-FR" dirty="0"/>
              <a:t>Pr. HICHAM BENALLA</a:t>
            </a:r>
          </a:p>
          <a:p>
            <a:pPr>
              <a:lnSpc>
                <a:spcPct val="115000"/>
              </a:lnSpc>
              <a:spcAft>
                <a:spcPts val="800"/>
              </a:spcAft>
            </a:pPr>
            <a:r>
              <a:rPr lang="fr-FR" b="1" dirty="0">
                <a:latin typeface="Times New Roman" panose="02020603050405020304" pitchFamily="18" charset="0"/>
                <a:ea typeface="Calibri" panose="020F0502020204030204" pitchFamily="34" charset="0"/>
                <a:cs typeface="Times New Roman" panose="02020603050405020304" pitchFamily="18" charset="0"/>
              </a:rPr>
              <a:t>						</a:t>
            </a:r>
            <a:endParaRPr lang="fr-FR"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597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74A28A62-664F-46B2-A80A-721CAEA770D1}"/>
              </a:ext>
            </a:extLst>
          </p:cNvPr>
          <p:cNvSpPr/>
          <p:nvPr/>
        </p:nvSpPr>
        <p:spPr>
          <a:xfrm>
            <a:off x="728897" y="1686977"/>
            <a:ext cx="6891103" cy="1417558"/>
          </a:xfrm>
          <a:prstGeom prst="rect">
            <a:avLst/>
          </a:prstGeom>
          <a:noFill/>
          <a:ln/>
        </p:spPr>
        <p:txBody>
          <a:bodyPr wrap="square" lIns="0" tIns="0" rIns="0" bIns="0" rtlCol="0" anchor="t"/>
          <a:lstStyle/>
          <a:p>
            <a:pPr marL="0" indent="0" algn="l">
              <a:lnSpc>
                <a:spcPts val="5550"/>
              </a:lnSpc>
              <a:buNone/>
            </a:pPr>
            <a:r>
              <a:rPr lang="en-US" sz="4450" b="1" dirty="0">
                <a:solidFill>
                  <a:schemeClr val="tx1">
                    <a:lumMod val="95000"/>
                  </a:schemeClr>
                </a:solidFill>
                <a:latin typeface="Outfit Extra Bold" pitchFamily="34" charset="0"/>
                <a:ea typeface="Outfit Extra Bold" pitchFamily="34" charset="-122"/>
                <a:cs typeface="Outfit Extra Bold" pitchFamily="34" charset="-120"/>
              </a:rPr>
              <a:t>Émulation du Simulateur Motorola 6809</a:t>
            </a:r>
            <a:endParaRPr lang="en-US" sz="4450" dirty="0">
              <a:solidFill>
                <a:schemeClr val="tx1">
                  <a:lumMod val="95000"/>
                </a:schemeClr>
              </a:solidFill>
            </a:endParaRPr>
          </a:p>
        </p:txBody>
      </p:sp>
      <p:sp>
        <p:nvSpPr>
          <p:cNvPr id="6" name="Text 1">
            <a:extLst>
              <a:ext uri="{FF2B5EF4-FFF2-40B4-BE49-F238E27FC236}">
                <a16:creationId xmlns:a16="http://schemas.microsoft.com/office/drawing/2014/main" id="{B02119E6-A90F-4C0A-A124-BA7A8300E82D}"/>
              </a:ext>
            </a:extLst>
          </p:cNvPr>
          <p:cNvSpPr/>
          <p:nvPr/>
        </p:nvSpPr>
        <p:spPr>
          <a:xfrm>
            <a:off x="728897" y="3560960"/>
            <a:ext cx="6531242" cy="725805"/>
          </a:xfrm>
          <a:prstGeom prst="rect">
            <a:avLst/>
          </a:prstGeom>
          <a:noFill/>
          <a:ln/>
        </p:spPr>
        <p:txBody>
          <a:bodyPr wrap="square" lIns="0" tIns="0" rIns="0" bIns="0" rtlCol="0" anchor="t"/>
          <a:lstStyle/>
          <a:p>
            <a:pPr marL="0" indent="0" algn="l">
              <a:lnSpc>
                <a:spcPts val="2850"/>
              </a:lnSpc>
              <a:buNone/>
            </a:pPr>
            <a:r>
              <a:rPr lang="en-US" sz="1750" dirty="0">
                <a:latin typeface="Arimo" pitchFamily="34" charset="0"/>
                <a:ea typeface="Arimo" pitchFamily="34" charset="-122"/>
                <a:cs typeface="Arimo" pitchFamily="34" charset="-120"/>
              </a:rPr>
              <a:t>Une explo</a:t>
            </a:r>
            <a:r>
              <a:rPr lang="en-US" sz="1750" dirty="0">
                <a:solidFill>
                  <a:srgbClr val="FFE76A"/>
                </a:solidFill>
                <a:latin typeface="Arimo" pitchFamily="34" charset="0"/>
                <a:ea typeface="Arimo" pitchFamily="34" charset="-122"/>
                <a:cs typeface="Arimo" pitchFamily="34" charset="-120"/>
              </a:rPr>
              <a:t>ration</a:t>
            </a:r>
            <a:r>
              <a:rPr lang="en-US" sz="1750" dirty="0">
                <a:latin typeface="Arimo" pitchFamily="34" charset="0"/>
                <a:ea typeface="Arimo" pitchFamily="34" charset="-122"/>
                <a:cs typeface="Arimo" pitchFamily="34" charset="-120"/>
              </a:rPr>
              <a:t> moderne d'une architecture légendaire pour </a:t>
            </a:r>
            <a:r>
              <a:rPr lang="en-US" sz="1750" dirty="0">
                <a:solidFill>
                  <a:srgbClr val="CB8851"/>
                </a:solidFill>
                <a:latin typeface="Arimo" pitchFamily="34" charset="0"/>
                <a:ea typeface="Arimo" pitchFamily="34" charset="-122"/>
                <a:cs typeface="Arimo" pitchFamily="34" charset="-120"/>
              </a:rPr>
              <a:t>l'enseignement de </a:t>
            </a:r>
            <a:r>
              <a:rPr lang="en-US" sz="1750" dirty="0">
                <a:latin typeface="Arimo" pitchFamily="34" charset="0"/>
                <a:ea typeface="Arimo" pitchFamily="34" charset="-122"/>
                <a:cs typeface="Arimo" pitchFamily="34" charset="-120"/>
              </a:rPr>
              <a:t>l'informatique bas niveau.</a:t>
            </a:r>
            <a:endParaRPr lang="en-US" sz="1750" dirty="0"/>
          </a:p>
        </p:txBody>
      </p:sp>
      <p:pic>
        <p:nvPicPr>
          <p:cNvPr id="7" name="Image 0" descr="preencoded.png">
            <a:extLst>
              <a:ext uri="{FF2B5EF4-FFF2-40B4-BE49-F238E27FC236}">
                <a16:creationId xmlns:a16="http://schemas.microsoft.com/office/drawing/2014/main" id="{CBD2B444-759F-467A-A77C-4838D7C450AA}"/>
              </a:ext>
            </a:extLst>
          </p:cNvPr>
          <p:cNvPicPr>
            <a:picLocks noChangeAspect="1"/>
          </p:cNvPicPr>
          <p:nvPr/>
        </p:nvPicPr>
        <p:blipFill>
          <a:blip r:embed="rId2"/>
          <a:stretch>
            <a:fillRect/>
          </a:stretch>
        </p:blipFill>
        <p:spPr>
          <a:xfrm>
            <a:off x="7620000" y="0"/>
            <a:ext cx="4572000" cy="6858000"/>
          </a:xfrm>
          <a:prstGeom prst="rect">
            <a:avLst/>
          </a:prstGeom>
        </p:spPr>
      </p:pic>
    </p:spTree>
    <p:extLst>
      <p:ext uri="{BB962C8B-B14F-4D97-AF65-F5344CB8AC3E}">
        <p14:creationId xmlns:p14="http://schemas.microsoft.com/office/powerpoint/2010/main" val="174189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6277599C-D277-4C10-B7B2-F5792B48DBFC}"/>
              </a:ext>
            </a:extLst>
          </p:cNvPr>
          <p:cNvSpPr/>
          <p:nvPr/>
        </p:nvSpPr>
        <p:spPr>
          <a:xfrm>
            <a:off x="967045" y="1391908"/>
            <a:ext cx="5670590" cy="708779"/>
          </a:xfrm>
          <a:prstGeom prst="rect">
            <a:avLst/>
          </a:prstGeom>
          <a:noFill/>
          <a:ln/>
        </p:spPr>
        <p:txBody>
          <a:bodyPr wrap="none" lIns="0" tIns="0" rIns="0" bIns="0" rtlCol="0" anchor="t"/>
          <a:lstStyle/>
          <a:p>
            <a:pPr marL="0" indent="0" algn="l">
              <a:lnSpc>
                <a:spcPts val="5550"/>
              </a:lnSpc>
              <a:buNone/>
            </a:pPr>
            <a:r>
              <a:rPr lang="en-US" sz="4450" b="1" dirty="0">
                <a:latin typeface="Outfit Extra Bold" pitchFamily="34" charset="0"/>
                <a:ea typeface="Outfit Extra Bold" pitchFamily="34" charset="-122"/>
                <a:cs typeface="Outfit Extra Bold" pitchFamily="34" charset="-120"/>
              </a:rPr>
              <a:t>Le Motorola 6809 </a:t>
            </a:r>
            <a:endParaRPr lang="en-US" sz="4450" dirty="0"/>
          </a:p>
        </p:txBody>
      </p:sp>
      <p:sp>
        <p:nvSpPr>
          <p:cNvPr id="6" name="Text 2">
            <a:extLst>
              <a:ext uri="{FF2B5EF4-FFF2-40B4-BE49-F238E27FC236}">
                <a16:creationId xmlns:a16="http://schemas.microsoft.com/office/drawing/2014/main" id="{5F48FA3A-ADF4-481D-9C96-B5DBC83D3699}"/>
              </a:ext>
            </a:extLst>
          </p:cNvPr>
          <p:cNvSpPr/>
          <p:nvPr/>
        </p:nvSpPr>
        <p:spPr>
          <a:xfrm>
            <a:off x="967045" y="2616048"/>
            <a:ext cx="7604284" cy="1213486"/>
          </a:xfrm>
          <a:prstGeom prst="rect">
            <a:avLst/>
          </a:prstGeom>
          <a:noFill/>
          <a:ln/>
        </p:spPr>
        <p:txBody>
          <a:bodyPr wrap="square" lIns="0" tIns="0" rIns="0" bIns="0" rtlCol="0" anchor="t"/>
          <a:lstStyle/>
          <a:p>
            <a:pPr marL="0" indent="0" algn="l">
              <a:lnSpc>
                <a:spcPts val="2850"/>
              </a:lnSpc>
              <a:buNone/>
            </a:pPr>
            <a:r>
              <a:rPr lang="en-US" sz="1750" dirty="0">
                <a:solidFill>
                  <a:schemeClr val="tx2"/>
                </a:solidFill>
                <a:latin typeface="Arimo" pitchFamily="34" charset="0"/>
                <a:ea typeface="Arimo" pitchFamily="34" charset="-122"/>
                <a:cs typeface="Arimo" pitchFamily="34" charset="-120"/>
              </a:rPr>
              <a:t>Lancé en 1978, le 6809 est souvent considéré comme le plus puissant des microprocesseurs 8 bits. Son architecture sophistiquée a ouvert la voie aux systèmes modernes.</a:t>
            </a:r>
            <a:endParaRPr lang="en-US" sz="1750" dirty="0">
              <a:solidFill>
                <a:schemeClr val="tx2"/>
              </a:solidFill>
            </a:endParaRPr>
          </a:p>
        </p:txBody>
      </p:sp>
      <p:sp>
        <p:nvSpPr>
          <p:cNvPr id="7" name="Text 3">
            <a:extLst>
              <a:ext uri="{FF2B5EF4-FFF2-40B4-BE49-F238E27FC236}">
                <a16:creationId xmlns:a16="http://schemas.microsoft.com/office/drawing/2014/main" id="{D8CD8155-D1ED-4A76-8BCF-2E18C90D30D6}"/>
              </a:ext>
            </a:extLst>
          </p:cNvPr>
          <p:cNvSpPr/>
          <p:nvPr/>
        </p:nvSpPr>
        <p:spPr>
          <a:xfrm>
            <a:off x="967045" y="3895797"/>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chemeClr val="tx2"/>
                </a:solidFill>
                <a:latin typeface="Arimo" pitchFamily="34" charset="0"/>
                <a:ea typeface="Arimo" pitchFamily="34" charset="-122"/>
                <a:cs typeface="Arimo" pitchFamily="34" charset="-120"/>
              </a:rPr>
              <a:t>Registres flexibles :</a:t>
            </a:r>
            <a:r>
              <a:rPr lang="en-US" sz="1750" dirty="0">
                <a:solidFill>
                  <a:schemeClr val="tx2"/>
                </a:solidFill>
                <a:latin typeface="Arimo" pitchFamily="34" charset="0"/>
                <a:ea typeface="Arimo" pitchFamily="34" charset="-122"/>
                <a:cs typeface="Arimo" pitchFamily="34" charset="-120"/>
              </a:rPr>
              <a:t> Accumulateurs A et B, registres d'index X et Y.</a:t>
            </a:r>
            <a:endParaRPr lang="en-US" sz="1750" dirty="0">
              <a:solidFill>
                <a:schemeClr val="tx2"/>
              </a:solidFill>
            </a:endParaRPr>
          </a:p>
        </p:txBody>
      </p:sp>
      <p:sp>
        <p:nvSpPr>
          <p:cNvPr id="8" name="Text 4">
            <a:extLst>
              <a:ext uri="{FF2B5EF4-FFF2-40B4-BE49-F238E27FC236}">
                <a16:creationId xmlns:a16="http://schemas.microsoft.com/office/drawing/2014/main" id="{969B32B8-BEF5-4570-A553-F10EBD048632}"/>
              </a:ext>
            </a:extLst>
          </p:cNvPr>
          <p:cNvSpPr/>
          <p:nvPr/>
        </p:nvSpPr>
        <p:spPr>
          <a:xfrm>
            <a:off x="967045" y="4376800"/>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chemeClr val="tx2"/>
                </a:solidFill>
                <a:latin typeface="Arimo" pitchFamily="34" charset="0"/>
                <a:ea typeface="Arimo" pitchFamily="34" charset="-122"/>
                <a:cs typeface="Arimo" pitchFamily="34" charset="-120"/>
              </a:rPr>
              <a:t>Modes d'adressage :</a:t>
            </a:r>
            <a:r>
              <a:rPr lang="en-US" sz="1750" dirty="0">
                <a:solidFill>
                  <a:schemeClr val="tx2"/>
                </a:solidFill>
                <a:latin typeface="Arimo" pitchFamily="34" charset="0"/>
                <a:ea typeface="Arimo" pitchFamily="34" charset="-122"/>
                <a:cs typeface="Arimo" pitchFamily="34" charset="-120"/>
              </a:rPr>
              <a:t> Plus de 59 modes, offrant une polyvalence rare.</a:t>
            </a:r>
            <a:endParaRPr lang="en-US" sz="1750" dirty="0">
              <a:solidFill>
                <a:schemeClr val="tx2"/>
              </a:solidFill>
            </a:endParaRPr>
          </a:p>
        </p:txBody>
      </p:sp>
      <p:sp>
        <p:nvSpPr>
          <p:cNvPr id="9" name="Text 5">
            <a:extLst>
              <a:ext uri="{FF2B5EF4-FFF2-40B4-BE49-F238E27FC236}">
                <a16:creationId xmlns:a16="http://schemas.microsoft.com/office/drawing/2014/main" id="{9FBC7CE2-1046-4B48-ABB7-D47BD1530A11}"/>
              </a:ext>
            </a:extLst>
          </p:cNvPr>
          <p:cNvSpPr/>
          <p:nvPr/>
        </p:nvSpPr>
        <p:spPr>
          <a:xfrm>
            <a:off x="967045" y="485780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tx2"/>
                </a:solidFill>
                <a:latin typeface="Arimo" pitchFamily="34" charset="0"/>
                <a:ea typeface="Arimo" pitchFamily="34" charset="-122"/>
                <a:cs typeface="Arimo" pitchFamily="34" charset="-120"/>
              </a:rPr>
              <a:t>Héritage :</a:t>
            </a:r>
            <a:r>
              <a:rPr lang="en-US" sz="1750" dirty="0">
                <a:solidFill>
                  <a:schemeClr val="tx2"/>
                </a:solidFill>
                <a:latin typeface="Arimo" pitchFamily="34" charset="0"/>
                <a:ea typeface="Arimo" pitchFamily="34" charset="-122"/>
                <a:cs typeface="Arimo" pitchFamily="34" charset="-120"/>
              </a:rPr>
              <a:t> Utilisé dans le célèbre TRS-80 Color Computer et de nombreuses bornes d'arcade.</a:t>
            </a:r>
            <a:endParaRPr lang="en-US" sz="1750" dirty="0">
              <a:solidFill>
                <a:schemeClr val="tx2"/>
              </a:solidFill>
            </a:endParaRPr>
          </a:p>
        </p:txBody>
      </p:sp>
    </p:spTree>
    <p:extLst>
      <p:ext uri="{BB962C8B-B14F-4D97-AF65-F5344CB8AC3E}">
        <p14:creationId xmlns:p14="http://schemas.microsoft.com/office/powerpoint/2010/main" val="1115696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289CB1DE-E14C-471A-9E3F-9C7D1E36C2C2}"/>
              </a:ext>
            </a:extLst>
          </p:cNvPr>
          <p:cNvSpPr/>
          <p:nvPr/>
        </p:nvSpPr>
        <p:spPr>
          <a:xfrm>
            <a:off x="793789" y="1664507"/>
            <a:ext cx="7556421" cy="1417558"/>
          </a:xfrm>
          <a:prstGeom prst="rect">
            <a:avLst/>
          </a:prstGeom>
          <a:noFill/>
          <a:ln/>
        </p:spPr>
        <p:txBody>
          <a:bodyPr wrap="square" lIns="0" tIns="0" rIns="0" bIns="0" rtlCol="0" anchor="t"/>
          <a:lstStyle/>
          <a:p>
            <a:pPr marL="0" indent="0" algn="l">
              <a:lnSpc>
                <a:spcPts val="5550"/>
              </a:lnSpc>
              <a:buNone/>
            </a:pPr>
            <a:r>
              <a:rPr lang="en-US" sz="4450" b="1" dirty="0">
                <a:latin typeface="Outfit Extra Bold" pitchFamily="34" charset="0"/>
                <a:ea typeface="Outfit Extra Bold" pitchFamily="34" charset="-122"/>
                <a:cs typeface="Outfit Extra Bold" pitchFamily="34" charset="-120"/>
              </a:rPr>
              <a:t>Une Solution Complète et Fidèle</a:t>
            </a:r>
            <a:endParaRPr lang="en-US" sz="4450" dirty="0"/>
          </a:p>
        </p:txBody>
      </p:sp>
      <p:sp>
        <p:nvSpPr>
          <p:cNvPr id="6" name="Text 2">
            <a:extLst>
              <a:ext uri="{FF2B5EF4-FFF2-40B4-BE49-F238E27FC236}">
                <a16:creationId xmlns:a16="http://schemas.microsoft.com/office/drawing/2014/main" id="{A3707691-D359-44F3-9334-93C15CD2B356}"/>
              </a:ext>
            </a:extLst>
          </p:cNvPr>
          <p:cNvSpPr/>
          <p:nvPr/>
        </p:nvSpPr>
        <p:spPr>
          <a:xfrm>
            <a:off x="793789" y="3552474"/>
            <a:ext cx="6942974" cy="1417558"/>
          </a:xfrm>
          <a:prstGeom prst="rect">
            <a:avLst/>
          </a:prstGeom>
          <a:noFill/>
          <a:ln/>
        </p:spPr>
        <p:txBody>
          <a:bodyPr wrap="square" lIns="0" tIns="0" rIns="0" bIns="0" rtlCol="0" anchor="t"/>
          <a:lstStyle/>
          <a:p>
            <a:pPr>
              <a:lnSpc>
                <a:spcPts val="2850"/>
              </a:lnSpc>
            </a:pPr>
            <a:r>
              <a:rPr lang="fr-FR" dirty="0">
                <a:solidFill>
                  <a:schemeClr val="tx2"/>
                </a:solidFill>
                <a:latin typeface="Arial" panose="020B0604020202020204" pitchFamily="34" charset="0"/>
                <a:cs typeface="Arial" panose="020B0604020202020204" pitchFamily="34" charset="0"/>
              </a:rPr>
              <a:t>L’objectif de ce projet est de développer un simulateur complet et intuitif du Motorola 6809. Ce simulateur vise à offrir un environnement d’émulation fidèle au processeur réel</a:t>
            </a:r>
            <a:endParaRPr lang="en-US" sz="1750" dirty="0">
              <a:solidFill>
                <a:schemeClr val="tx2"/>
              </a:solidFill>
              <a:latin typeface="Arial" panose="020B0604020202020204" pitchFamily="34" charset="0"/>
              <a:cs typeface="Arial" panose="020B0604020202020204" pitchFamily="34" charset="0"/>
            </a:endParaRPr>
          </a:p>
        </p:txBody>
      </p:sp>
      <p:pic>
        <p:nvPicPr>
          <p:cNvPr id="16" name="Image 0" descr="preencoded.png">
            <a:extLst>
              <a:ext uri="{FF2B5EF4-FFF2-40B4-BE49-F238E27FC236}">
                <a16:creationId xmlns:a16="http://schemas.microsoft.com/office/drawing/2014/main" id="{34204130-5FE3-407B-8C85-BD1CAF5676F3}"/>
              </a:ext>
            </a:extLst>
          </p:cNvPr>
          <p:cNvPicPr>
            <a:picLocks noChangeAspect="1"/>
          </p:cNvPicPr>
          <p:nvPr/>
        </p:nvPicPr>
        <p:blipFill>
          <a:blip r:embed="rId2"/>
          <a:stretch>
            <a:fillRect/>
          </a:stretch>
        </p:blipFill>
        <p:spPr>
          <a:xfrm>
            <a:off x="8350210" y="-1"/>
            <a:ext cx="3847535" cy="6858001"/>
          </a:xfrm>
          <a:prstGeom prst="rect">
            <a:avLst/>
          </a:prstGeom>
        </p:spPr>
      </p:pic>
    </p:spTree>
    <p:extLst>
      <p:ext uri="{BB962C8B-B14F-4D97-AF65-F5344CB8AC3E}">
        <p14:creationId xmlns:p14="http://schemas.microsoft.com/office/powerpoint/2010/main" val="1446402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C1D22DA-B2D7-4499-BE00-E45300FFCB63}"/>
              </a:ext>
            </a:extLst>
          </p:cNvPr>
          <p:cNvSpPr/>
          <p:nvPr/>
        </p:nvSpPr>
        <p:spPr>
          <a:xfrm>
            <a:off x="967045" y="1252986"/>
            <a:ext cx="3636526" cy="354330"/>
          </a:xfrm>
          <a:prstGeom prst="rect">
            <a:avLst/>
          </a:prstGeom>
          <a:noFill/>
          <a:ln/>
        </p:spPr>
        <p:txBody>
          <a:bodyPr wrap="none" lIns="0" tIns="0" rIns="0" bIns="0" rtlCol="0" anchor="t"/>
          <a:lstStyle/>
          <a:p>
            <a:pPr marL="0" indent="0" algn="l">
              <a:lnSpc>
                <a:spcPts val="2750"/>
              </a:lnSpc>
              <a:buNone/>
            </a:pPr>
            <a:r>
              <a:rPr lang="en-US" sz="2200" b="1" dirty="0">
                <a:latin typeface="Outfit Extra Bold" pitchFamily="34" charset="0"/>
                <a:ea typeface="Outfit Extra Bold" pitchFamily="34" charset="-122"/>
                <a:cs typeface="Outfit Extra Bold" pitchFamily="34" charset="-120"/>
              </a:rPr>
              <a:t>EXPÉRIENCE UTILISATEUR</a:t>
            </a:r>
            <a:endParaRPr lang="en-US" sz="2200" dirty="0"/>
          </a:p>
        </p:txBody>
      </p:sp>
      <p:sp>
        <p:nvSpPr>
          <p:cNvPr id="5" name="Text 1">
            <a:extLst>
              <a:ext uri="{FF2B5EF4-FFF2-40B4-BE49-F238E27FC236}">
                <a16:creationId xmlns:a16="http://schemas.microsoft.com/office/drawing/2014/main" id="{C77789E8-53D3-432F-B416-E74B73FF8849}"/>
              </a:ext>
            </a:extLst>
          </p:cNvPr>
          <p:cNvSpPr/>
          <p:nvPr/>
        </p:nvSpPr>
        <p:spPr>
          <a:xfrm>
            <a:off x="967045" y="1972734"/>
            <a:ext cx="7307223" cy="708779"/>
          </a:xfrm>
          <a:prstGeom prst="rect">
            <a:avLst/>
          </a:prstGeom>
          <a:noFill/>
          <a:ln/>
        </p:spPr>
        <p:txBody>
          <a:bodyPr wrap="none" lIns="0" tIns="0" rIns="0" bIns="0" rtlCol="0" anchor="t"/>
          <a:lstStyle/>
          <a:p>
            <a:pPr marL="0" indent="0" algn="l">
              <a:lnSpc>
                <a:spcPts val="5550"/>
              </a:lnSpc>
              <a:buNone/>
            </a:pPr>
            <a:r>
              <a:rPr lang="en-US" sz="4450" b="1" dirty="0">
                <a:latin typeface="Outfit Extra Bold" pitchFamily="34" charset="0"/>
                <a:ea typeface="Outfit Extra Bold" pitchFamily="34" charset="-122"/>
                <a:cs typeface="Outfit Extra Bold" pitchFamily="34" charset="-120"/>
              </a:rPr>
              <a:t>L'Interface Graphique (GUI)</a:t>
            </a:r>
            <a:endParaRPr lang="en-US" sz="4450" dirty="0"/>
          </a:p>
        </p:txBody>
      </p:sp>
      <p:sp>
        <p:nvSpPr>
          <p:cNvPr id="6" name="Text 2">
            <a:extLst>
              <a:ext uri="{FF2B5EF4-FFF2-40B4-BE49-F238E27FC236}">
                <a16:creationId xmlns:a16="http://schemas.microsoft.com/office/drawing/2014/main" id="{83F255B1-C073-4F9C-97BE-42EA13E2F27C}"/>
              </a:ext>
            </a:extLst>
          </p:cNvPr>
          <p:cNvSpPr/>
          <p:nvPr/>
        </p:nvSpPr>
        <p:spPr>
          <a:xfrm>
            <a:off x="967045" y="3046931"/>
            <a:ext cx="13042821"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schemeClr>
                </a:solidFill>
                <a:latin typeface="Arimo" pitchFamily="34" charset="0"/>
                <a:ea typeface="Arimo" pitchFamily="34" charset="-122"/>
                <a:cs typeface="Arimo" pitchFamily="34" charset="-120"/>
              </a:rPr>
              <a:t>Conçue pour la clarté, l'interface se divise en zones logiques pour une surveillance optimale.</a:t>
            </a:r>
            <a:endParaRPr lang="en-US" sz="1750" dirty="0">
              <a:solidFill>
                <a:schemeClr val="tx1">
                  <a:lumMod val="95000"/>
                </a:schemeClr>
              </a:solidFill>
            </a:endParaRPr>
          </a:p>
        </p:txBody>
      </p:sp>
      <p:sp>
        <p:nvSpPr>
          <p:cNvPr id="7" name="Text 3">
            <a:extLst>
              <a:ext uri="{FF2B5EF4-FFF2-40B4-BE49-F238E27FC236}">
                <a16:creationId xmlns:a16="http://schemas.microsoft.com/office/drawing/2014/main" id="{0C4FFA42-E512-4BB4-909C-5CD795022E0F}"/>
              </a:ext>
            </a:extLst>
          </p:cNvPr>
          <p:cNvSpPr/>
          <p:nvPr/>
        </p:nvSpPr>
        <p:spPr>
          <a:xfrm>
            <a:off x="967045" y="41785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B8851"/>
                </a:solidFill>
                <a:latin typeface="Outfit Extra Bold" pitchFamily="34" charset="0"/>
                <a:ea typeface="Outfit Extra Bold" pitchFamily="34" charset="-122"/>
                <a:cs typeface="Outfit Extra Bold" pitchFamily="34" charset="-120"/>
              </a:rPr>
              <a:t>Vues RAM &amp; ROM</a:t>
            </a:r>
            <a:endParaRPr lang="en-US" sz="2200" dirty="0">
              <a:solidFill>
                <a:srgbClr val="CB8851"/>
              </a:solidFill>
            </a:endParaRPr>
          </a:p>
        </p:txBody>
      </p:sp>
      <p:sp>
        <p:nvSpPr>
          <p:cNvPr id="8" name="Text 4">
            <a:extLst>
              <a:ext uri="{FF2B5EF4-FFF2-40B4-BE49-F238E27FC236}">
                <a16:creationId xmlns:a16="http://schemas.microsoft.com/office/drawing/2014/main" id="{7ADE2816-C17F-4B5D-BE69-85705304120C}"/>
              </a:ext>
            </a:extLst>
          </p:cNvPr>
          <p:cNvSpPr/>
          <p:nvPr/>
        </p:nvSpPr>
        <p:spPr>
          <a:xfrm>
            <a:off x="922526" y="4653931"/>
            <a:ext cx="2835235" cy="725805"/>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schemeClr>
                </a:solidFill>
                <a:latin typeface="Arimo" pitchFamily="34" charset="0"/>
                <a:ea typeface="Arimo" pitchFamily="34" charset="-122"/>
                <a:cs typeface="Arimo" pitchFamily="34" charset="-120"/>
              </a:rPr>
              <a:t>Visualisation hexadécimale de la mémoire système.</a:t>
            </a:r>
            <a:endParaRPr lang="en-US" sz="1750" dirty="0">
              <a:solidFill>
                <a:schemeClr val="tx1">
                  <a:lumMod val="95000"/>
                </a:schemeClr>
              </a:solidFill>
            </a:endParaRPr>
          </a:p>
        </p:txBody>
      </p:sp>
      <p:sp>
        <p:nvSpPr>
          <p:cNvPr id="9" name="Text 5">
            <a:extLst>
              <a:ext uri="{FF2B5EF4-FFF2-40B4-BE49-F238E27FC236}">
                <a16:creationId xmlns:a16="http://schemas.microsoft.com/office/drawing/2014/main" id="{6ABED069-C276-4CA9-9559-485BB6DD3A5C}"/>
              </a:ext>
            </a:extLst>
          </p:cNvPr>
          <p:cNvSpPr/>
          <p:nvPr/>
        </p:nvSpPr>
        <p:spPr>
          <a:xfrm>
            <a:off x="4518679" y="4197202"/>
            <a:ext cx="2969776" cy="354330"/>
          </a:xfrm>
          <a:prstGeom prst="rect">
            <a:avLst/>
          </a:prstGeom>
          <a:noFill/>
          <a:ln/>
        </p:spPr>
        <p:txBody>
          <a:bodyPr wrap="none" lIns="0" tIns="0" rIns="0" bIns="0" rtlCol="0" anchor="t"/>
          <a:lstStyle/>
          <a:p>
            <a:pPr marL="0" indent="0" algn="l">
              <a:lnSpc>
                <a:spcPts val="2750"/>
              </a:lnSpc>
              <a:buNone/>
            </a:pPr>
            <a:r>
              <a:rPr lang="en-US" sz="2200" b="1" dirty="0">
                <a:solidFill>
                  <a:srgbClr val="CB8851"/>
                </a:solidFill>
                <a:latin typeface="Outfit Extra Bold" pitchFamily="34" charset="0"/>
                <a:ea typeface="Outfit Extra Bold" pitchFamily="34" charset="-122"/>
                <a:cs typeface="Outfit Extra Bold" pitchFamily="34" charset="-120"/>
              </a:rPr>
              <a:t>Panneau des Registres</a:t>
            </a:r>
            <a:endParaRPr lang="en-US" sz="2200" dirty="0">
              <a:solidFill>
                <a:srgbClr val="CB8851"/>
              </a:solidFill>
            </a:endParaRPr>
          </a:p>
        </p:txBody>
      </p:sp>
      <p:sp>
        <p:nvSpPr>
          <p:cNvPr id="10" name="Text 6">
            <a:extLst>
              <a:ext uri="{FF2B5EF4-FFF2-40B4-BE49-F238E27FC236}">
                <a16:creationId xmlns:a16="http://schemas.microsoft.com/office/drawing/2014/main" id="{EE22DA70-2462-44D7-BBE6-20C64FDB5C77}"/>
              </a:ext>
            </a:extLst>
          </p:cNvPr>
          <p:cNvSpPr/>
          <p:nvPr/>
        </p:nvSpPr>
        <p:spPr>
          <a:xfrm>
            <a:off x="4603571" y="4653931"/>
            <a:ext cx="3239513" cy="725805"/>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schemeClr>
                </a:solidFill>
                <a:latin typeface="Arimo" pitchFamily="34" charset="0"/>
                <a:ea typeface="Arimo" pitchFamily="34" charset="-122"/>
                <a:cs typeface="Arimo" pitchFamily="34" charset="-120"/>
              </a:rPr>
              <a:t>Affichage dynamique de A, B, DP, CC, X, Y, U, S et PC.</a:t>
            </a:r>
            <a:endParaRPr lang="en-US" sz="1750" dirty="0">
              <a:solidFill>
                <a:schemeClr val="tx1">
                  <a:lumMod val="95000"/>
                </a:schemeClr>
              </a:solidFill>
            </a:endParaRPr>
          </a:p>
        </p:txBody>
      </p:sp>
      <p:sp>
        <p:nvSpPr>
          <p:cNvPr id="11" name="Text 8">
            <a:extLst>
              <a:ext uri="{FF2B5EF4-FFF2-40B4-BE49-F238E27FC236}">
                <a16:creationId xmlns:a16="http://schemas.microsoft.com/office/drawing/2014/main" id="{823DCB59-CE91-4F3D-B01B-B3535D0D3A3A}"/>
              </a:ext>
            </a:extLst>
          </p:cNvPr>
          <p:cNvSpPr/>
          <p:nvPr/>
        </p:nvSpPr>
        <p:spPr>
          <a:xfrm>
            <a:off x="8834957" y="4653931"/>
            <a:ext cx="2920181" cy="907062"/>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schemeClr>
                </a:solidFill>
                <a:latin typeface="Arimo" pitchFamily="34" charset="0"/>
                <a:ea typeface="Arimo" pitchFamily="34" charset="-122"/>
                <a:cs typeface="Arimo" pitchFamily="34" charset="-120"/>
              </a:rPr>
              <a:t>Gestion des entrées/sorties et logs d'exécution.</a:t>
            </a:r>
            <a:endParaRPr lang="en-US" sz="1750" dirty="0">
              <a:solidFill>
                <a:schemeClr val="tx1">
                  <a:lumMod val="95000"/>
                </a:schemeClr>
              </a:solidFill>
            </a:endParaRPr>
          </a:p>
        </p:txBody>
      </p:sp>
      <p:sp>
        <p:nvSpPr>
          <p:cNvPr id="12" name="Text 7">
            <a:extLst>
              <a:ext uri="{FF2B5EF4-FFF2-40B4-BE49-F238E27FC236}">
                <a16:creationId xmlns:a16="http://schemas.microsoft.com/office/drawing/2014/main" id="{B1168187-B11E-4218-970F-EFB667B02897}"/>
              </a:ext>
            </a:extLst>
          </p:cNvPr>
          <p:cNvSpPr/>
          <p:nvPr/>
        </p:nvSpPr>
        <p:spPr>
          <a:xfrm>
            <a:off x="8709829" y="41998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B8851"/>
                </a:solidFill>
                <a:latin typeface="Outfit Extra Bold" pitchFamily="34" charset="0"/>
                <a:ea typeface="Outfit Extra Bold" pitchFamily="34" charset="-122"/>
                <a:cs typeface="Outfit Extra Bold" pitchFamily="34" charset="-120"/>
              </a:rPr>
              <a:t>Console de Contrôle</a:t>
            </a:r>
            <a:endParaRPr lang="en-US" sz="2200" dirty="0">
              <a:solidFill>
                <a:srgbClr val="CB8851"/>
              </a:solidFill>
            </a:endParaRPr>
          </a:p>
        </p:txBody>
      </p:sp>
    </p:spTree>
    <p:extLst>
      <p:ext uri="{BB962C8B-B14F-4D97-AF65-F5344CB8AC3E}">
        <p14:creationId xmlns:p14="http://schemas.microsoft.com/office/powerpoint/2010/main" val="175076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8617A598-6AF1-469F-BA44-5BEC346FB128}"/>
              </a:ext>
            </a:extLst>
          </p:cNvPr>
          <p:cNvSpPr/>
          <p:nvPr/>
        </p:nvSpPr>
        <p:spPr>
          <a:xfrm>
            <a:off x="1226409" y="1906190"/>
            <a:ext cx="5670590" cy="671002"/>
          </a:xfrm>
          <a:prstGeom prst="rect">
            <a:avLst/>
          </a:prstGeom>
          <a:noFill/>
          <a:ln/>
        </p:spPr>
        <p:txBody>
          <a:bodyPr wrap="none" lIns="0" tIns="0" rIns="0" bIns="0" rtlCol="0" anchor="t"/>
          <a:lstStyle/>
          <a:p>
            <a:pPr marL="0" indent="0" algn="l">
              <a:lnSpc>
                <a:spcPts val="5550"/>
              </a:lnSpc>
              <a:buNone/>
            </a:pPr>
            <a:r>
              <a:rPr lang="en-US" sz="4450" b="1" dirty="0">
                <a:latin typeface="Outfit Extra Bold" pitchFamily="34" charset="0"/>
              </a:rPr>
              <a:t>Guide d’utilisation</a:t>
            </a:r>
            <a:endParaRPr lang="en-US" sz="4450" dirty="0"/>
          </a:p>
        </p:txBody>
      </p:sp>
      <p:sp>
        <p:nvSpPr>
          <p:cNvPr id="6" name="Rectangle 5">
            <a:extLst>
              <a:ext uri="{FF2B5EF4-FFF2-40B4-BE49-F238E27FC236}">
                <a16:creationId xmlns:a16="http://schemas.microsoft.com/office/drawing/2014/main" id="{B894DBE0-9CC3-422F-B0B8-6899EEA945EB}"/>
              </a:ext>
            </a:extLst>
          </p:cNvPr>
          <p:cNvSpPr/>
          <p:nvPr/>
        </p:nvSpPr>
        <p:spPr>
          <a:xfrm>
            <a:off x="1226409" y="3032103"/>
            <a:ext cx="9291484" cy="1976567"/>
          </a:xfrm>
          <a:prstGeom prst="rect">
            <a:avLst/>
          </a:prstGeom>
        </p:spPr>
        <p:txBody>
          <a:bodyPr wrap="square">
            <a:spAutoFit/>
          </a:bodyPr>
          <a:lstStyle/>
          <a:p>
            <a:pPr>
              <a:lnSpc>
                <a:spcPct val="115000"/>
              </a:lnSpc>
              <a:spcAft>
                <a:spcPts val="0"/>
              </a:spcAft>
            </a:pPr>
            <a:r>
              <a:rPr lang="fr-FR" dirty="0">
                <a:solidFill>
                  <a:schemeClr val="tx1">
                    <a:lumMod val="95000"/>
                  </a:schemeClr>
                </a:solidFill>
                <a:latin typeface="Arial" panose="020B0604020202020204" pitchFamily="34" charset="0"/>
                <a:ea typeface="Times New Roman" panose="02020603050405020304" pitchFamily="18" charset="0"/>
                <a:cs typeface="Arial" panose="020B0604020202020204" pitchFamily="34" charset="0"/>
              </a:rPr>
              <a:t>L’interface graphique du simulateur Motorola 6809 a été conçue pour permettre à l’utilisateur de piloter la simulation de manière intuitive tout en observant visuellement le comportement du microprocesseur lors de l’exécution d’un programme assembleur.</a:t>
            </a:r>
            <a:endParaRPr lang="fr-FR" sz="1600" dirty="0">
              <a:solidFill>
                <a:schemeClr val="tx1">
                  <a:lumMod val="95000"/>
                </a:schemeClr>
              </a:solidFill>
              <a:latin typeface="Arial" panose="020B0604020202020204" pitchFamily="34" charset="0"/>
              <a:ea typeface="Calibri" panose="020F0502020204030204" pitchFamily="34" charset="0"/>
              <a:cs typeface="Arial" panose="020B0604020202020204" pitchFamily="34" charset="0"/>
            </a:endParaRPr>
          </a:p>
          <a:p>
            <a:pPr>
              <a:lnSpc>
                <a:spcPct val="115000"/>
              </a:lnSpc>
              <a:spcAft>
                <a:spcPts val="0"/>
              </a:spcAft>
            </a:pPr>
            <a:r>
              <a:rPr lang="fr-FR" dirty="0">
                <a:solidFill>
                  <a:schemeClr val="tx1">
                    <a:lumMod val="95000"/>
                  </a:schemeClr>
                </a:solidFill>
                <a:latin typeface="Arial" panose="020B0604020202020204" pitchFamily="34" charset="0"/>
                <a:ea typeface="Times New Roman" panose="02020603050405020304" pitchFamily="18" charset="0"/>
                <a:cs typeface="Arial" panose="020B0604020202020204" pitchFamily="34" charset="0"/>
              </a:rPr>
              <a:t>Elle regroupe, dans une même fenêtre, les commandes de simulation, l’architecture interne du processeur et les fenêtres nécessaires à l’analyse du fonctionnement (code et mémoire).</a:t>
            </a:r>
            <a:endParaRPr lang="fr-FR" sz="1600" dirty="0">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16182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2192CED5-E6A3-4AFC-9D9C-151E5BFCFCF0}"/>
              </a:ext>
            </a:extLst>
          </p:cNvPr>
          <p:cNvSpPr/>
          <p:nvPr/>
        </p:nvSpPr>
        <p:spPr>
          <a:xfrm>
            <a:off x="1171418" y="970986"/>
            <a:ext cx="9849164" cy="671002"/>
          </a:xfrm>
          <a:prstGeom prst="rect">
            <a:avLst/>
          </a:prstGeom>
          <a:noFill/>
          <a:ln/>
        </p:spPr>
        <p:txBody>
          <a:bodyPr wrap="none" lIns="0" tIns="0" rIns="0" bIns="0" rtlCol="0" anchor="t"/>
          <a:lstStyle/>
          <a:p>
            <a:pPr marL="0" indent="0" algn="l">
              <a:lnSpc>
                <a:spcPts val="5550"/>
              </a:lnSpc>
              <a:buNone/>
            </a:pPr>
            <a:r>
              <a:rPr lang="en-US" sz="3600" b="1" dirty="0">
                <a:latin typeface="Outfit Extra Bold" pitchFamily="34" charset="0"/>
              </a:rPr>
              <a:t>PRÉSENTATION GÉNÉRALE DE L’INTERFACE</a:t>
            </a:r>
            <a:endParaRPr lang="en-US" sz="3600" dirty="0"/>
          </a:p>
        </p:txBody>
      </p:sp>
      <p:pic>
        <p:nvPicPr>
          <p:cNvPr id="7" name="Image 6">
            <a:extLst>
              <a:ext uri="{FF2B5EF4-FFF2-40B4-BE49-F238E27FC236}">
                <a16:creationId xmlns:a16="http://schemas.microsoft.com/office/drawing/2014/main" id="{96B2ABE2-B600-4DEB-87BE-B5D980B71ED4}"/>
              </a:ext>
            </a:extLst>
          </p:cNvPr>
          <p:cNvPicPr>
            <a:picLocks noChangeAspect="1"/>
          </p:cNvPicPr>
          <p:nvPr/>
        </p:nvPicPr>
        <p:blipFill>
          <a:blip r:embed="rId2"/>
          <a:stretch>
            <a:fillRect/>
          </a:stretch>
        </p:blipFill>
        <p:spPr>
          <a:xfrm>
            <a:off x="1715815" y="1898887"/>
            <a:ext cx="8760370" cy="4439686"/>
          </a:xfrm>
          <a:prstGeom prst="rect">
            <a:avLst/>
          </a:prstGeom>
        </p:spPr>
      </p:pic>
    </p:spTree>
    <p:extLst>
      <p:ext uri="{BB962C8B-B14F-4D97-AF65-F5344CB8AC3E}">
        <p14:creationId xmlns:p14="http://schemas.microsoft.com/office/powerpoint/2010/main" val="223127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B4605C7B-63DF-438B-9B09-0A57D9BE827D}"/>
              </a:ext>
            </a:extLst>
          </p:cNvPr>
          <p:cNvSpPr/>
          <p:nvPr/>
        </p:nvSpPr>
        <p:spPr>
          <a:xfrm>
            <a:off x="1310967" y="1060650"/>
            <a:ext cx="5670590" cy="710323"/>
          </a:xfrm>
          <a:prstGeom prst="rect">
            <a:avLst/>
          </a:prstGeom>
          <a:noFill/>
          <a:ln/>
        </p:spPr>
        <p:txBody>
          <a:bodyPr wrap="none" lIns="0" tIns="0" rIns="0" bIns="0" rtlCol="0" anchor="t"/>
          <a:lstStyle/>
          <a:p>
            <a:pPr marL="0" indent="0" algn="l">
              <a:lnSpc>
                <a:spcPts val="5550"/>
              </a:lnSpc>
              <a:buNone/>
            </a:pPr>
            <a:r>
              <a:rPr lang="en-US" sz="4800" b="1" dirty="0">
                <a:latin typeface="Outfit Extra Bold" pitchFamily="34" charset="0"/>
              </a:rPr>
              <a:t>Barre de menus</a:t>
            </a:r>
            <a:endParaRPr lang="en-US" sz="4800" dirty="0"/>
          </a:p>
        </p:txBody>
      </p:sp>
      <p:sp>
        <p:nvSpPr>
          <p:cNvPr id="7" name="Rectangle 6">
            <a:extLst>
              <a:ext uri="{FF2B5EF4-FFF2-40B4-BE49-F238E27FC236}">
                <a16:creationId xmlns:a16="http://schemas.microsoft.com/office/drawing/2014/main" id="{F3B8ABC6-BC34-421D-9526-92582074B122}"/>
              </a:ext>
            </a:extLst>
          </p:cNvPr>
          <p:cNvSpPr/>
          <p:nvPr/>
        </p:nvSpPr>
        <p:spPr>
          <a:xfrm>
            <a:off x="1128087" y="2429751"/>
            <a:ext cx="9291484" cy="710323"/>
          </a:xfrm>
          <a:prstGeom prst="rect">
            <a:avLst/>
          </a:prstGeom>
        </p:spPr>
        <p:txBody>
          <a:bodyPr wrap="square">
            <a:spAutoFit/>
          </a:bodyPr>
          <a:lstStyle/>
          <a:p>
            <a:pPr>
              <a:lnSpc>
                <a:spcPct val="115000"/>
              </a:lnSpc>
              <a:spcAft>
                <a:spcPts val="0"/>
              </a:spcAft>
            </a:pPr>
            <a:r>
              <a:rPr lang="fr-FR" dirty="0">
                <a:solidFill>
                  <a:schemeClr val="tx1">
                    <a:lumMod val="95000"/>
                  </a:schemeClr>
                </a:solidFill>
                <a:latin typeface="Arial" panose="020B0604020202020204" pitchFamily="34" charset="0"/>
                <a:cs typeface="Arial" panose="020B0604020202020204" pitchFamily="34" charset="0"/>
              </a:rPr>
              <a:t>La barre de menus, située en haut de la fenêtre, donne accès à l’ensemble des fonctionnalités du simulateur</a:t>
            </a:r>
            <a:endParaRPr lang="fr-FR" sz="1600" dirty="0">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9456072-D219-45FF-9F0E-240E118BA6C1}"/>
              </a:ext>
            </a:extLst>
          </p:cNvPr>
          <p:cNvSpPr/>
          <p:nvPr/>
        </p:nvSpPr>
        <p:spPr>
          <a:xfrm>
            <a:off x="2623735" y="3745859"/>
            <a:ext cx="1380506" cy="480901"/>
          </a:xfrm>
          <a:prstGeom prst="rect">
            <a:avLst/>
          </a:prstGeom>
        </p:spPr>
        <p:txBody>
          <a:bodyPr wrap="none">
            <a:spAutoFit/>
          </a:bodyPr>
          <a:lstStyle/>
          <a:p>
            <a:pPr>
              <a:lnSpc>
                <a:spcPct val="115000"/>
              </a:lnSpc>
              <a:spcAft>
                <a:spcPts val="0"/>
              </a:spcAft>
            </a:pPr>
            <a:r>
              <a:rPr lang="fr-FR" sz="2400" b="1" dirty="0">
                <a:solidFill>
                  <a:srgbClr val="CB8851"/>
                </a:solidFill>
                <a:latin typeface="Arial" panose="020B0604020202020204" pitchFamily="34" charset="0"/>
                <a:ea typeface="Times New Roman" panose="02020603050405020304" pitchFamily="18" charset="0"/>
                <a:cs typeface="Arial" panose="020B0604020202020204" pitchFamily="34" charset="0"/>
              </a:rPr>
              <a:t>Fichier :</a:t>
            </a:r>
            <a:endParaRPr lang="fr-FR" sz="2000" dirty="0">
              <a:solidFill>
                <a:srgbClr val="CB885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9F884C76-7B1A-47FE-BBBB-C96B6BCDC4B4}"/>
              </a:ext>
            </a:extLst>
          </p:cNvPr>
          <p:cNvSpPr/>
          <p:nvPr/>
        </p:nvSpPr>
        <p:spPr>
          <a:xfrm>
            <a:off x="1705603" y="4226760"/>
            <a:ext cx="3617168" cy="1200329"/>
          </a:xfrm>
          <a:prstGeom prst="rect">
            <a:avLst/>
          </a:prstGeom>
        </p:spPr>
        <p:txBody>
          <a:bodyPr wrap="square">
            <a:spAutoFit/>
          </a:bodyPr>
          <a:lstStyle/>
          <a:p>
            <a:r>
              <a:rPr lang="fr-FR" dirty="0">
                <a:solidFill>
                  <a:schemeClr val="tx1">
                    <a:lumMod val="95000"/>
                  </a:schemeClr>
                </a:solidFill>
                <a:latin typeface="Arial" panose="020B0604020202020204" pitchFamily="34" charset="0"/>
                <a:ea typeface="Times New Roman" panose="02020603050405020304" pitchFamily="18" charset="0"/>
                <a:cs typeface="Arial" panose="020B0604020202020204" pitchFamily="34" charset="0"/>
              </a:rPr>
              <a:t>Permet de créer un nouveau programme, d’ouvrir un fichier existant ou de sauvegarder le travail</a:t>
            </a:r>
            <a:endParaRPr lang="fr-FR" dirty="0">
              <a:solidFill>
                <a:schemeClr val="tx1">
                  <a:lumMod val="95000"/>
                </a:schemeClr>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F67EF8E9-9E0E-476D-BF59-4A902B40159A}"/>
              </a:ext>
            </a:extLst>
          </p:cNvPr>
          <p:cNvSpPr/>
          <p:nvPr/>
        </p:nvSpPr>
        <p:spPr>
          <a:xfrm>
            <a:off x="7493524" y="3745859"/>
            <a:ext cx="2164753" cy="480901"/>
          </a:xfrm>
          <a:prstGeom prst="rect">
            <a:avLst/>
          </a:prstGeom>
        </p:spPr>
        <p:txBody>
          <a:bodyPr wrap="square">
            <a:spAutoFit/>
          </a:bodyPr>
          <a:lstStyle/>
          <a:p>
            <a:pPr>
              <a:lnSpc>
                <a:spcPct val="115000"/>
              </a:lnSpc>
              <a:spcAft>
                <a:spcPts val="0"/>
              </a:spcAft>
            </a:pPr>
            <a:r>
              <a:rPr lang="fr-FR" sz="2400" b="1" dirty="0">
                <a:solidFill>
                  <a:srgbClr val="CB8851"/>
                </a:solidFill>
                <a:latin typeface="Arial" panose="020B0604020202020204" pitchFamily="34" charset="0"/>
                <a:ea typeface="Times New Roman" panose="02020603050405020304" pitchFamily="18" charset="0"/>
                <a:cs typeface="Arial" panose="020B0604020202020204" pitchFamily="34" charset="0"/>
              </a:rPr>
              <a:t>Simulation :</a:t>
            </a:r>
            <a:endParaRPr lang="fr-FR" sz="2000" dirty="0">
              <a:solidFill>
                <a:srgbClr val="CB885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109048C-1793-4B04-93FA-8768296B3702}"/>
              </a:ext>
            </a:extLst>
          </p:cNvPr>
          <p:cNvSpPr/>
          <p:nvPr/>
        </p:nvSpPr>
        <p:spPr>
          <a:xfrm>
            <a:off x="6429261" y="4226760"/>
            <a:ext cx="4293281" cy="1339469"/>
          </a:xfrm>
          <a:prstGeom prst="rect">
            <a:avLst/>
          </a:prstGeom>
        </p:spPr>
        <p:txBody>
          <a:bodyPr wrap="square">
            <a:spAutoFit/>
          </a:bodyPr>
          <a:lstStyle/>
          <a:p>
            <a:pPr>
              <a:lnSpc>
                <a:spcPct val="115000"/>
              </a:lnSpc>
              <a:spcAft>
                <a:spcPts val="0"/>
              </a:spcAft>
            </a:pPr>
            <a:r>
              <a:rPr lang="fr-FR" dirty="0">
                <a:solidFill>
                  <a:schemeClr val="tx1">
                    <a:lumMod val="95000"/>
                  </a:schemeClr>
                </a:solidFill>
                <a:latin typeface="Arial" panose="020B0604020202020204" pitchFamily="34" charset="0"/>
                <a:ea typeface="Times New Roman" panose="02020603050405020304" pitchFamily="18" charset="0"/>
                <a:cs typeface="Arial" panose="020B0604020202020204" pitchFamily="34" charset="0"/>
              </a:rPr>
              <a:t>Contient les commandes permettant de lancer l’exécution, de l’arrêter, de réinitialiser le processeur ou d’exécuter le programme instruction par instruction.</a:t>
            </a:r>
            <a:endParaRPr lang="fr-FR" sz="1600" dirty="0">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47214B79-ECC0-4328-A1A5-F46A93EF59D2}"/>
              </a:ext>
            </a:extLst>
          </p:cNvPr>
          <p:cNvPicPr>
            <a:picLocks noChangeAspect="1"/>
          </p:cNvPicPr>
          <p:nvPr/>
        </p:nvPicPr>
        <p:blipFill>
          <a:blip r:embed="rId2"/>
          <a:stretch>
            <a:fillRect/>
          </a:stretch>
        </p:blipFill>
        <p:spPr>
          <a:xfrm>
            <a:off x="1310967" y="1823966"/>
            <a:ext cx="5763429" cy="381053"/>
          </a:xfrm>
          <a:prstGeom prst="rect">
            <a:avLst/>
          </a:prstGeom>
        </p:spPr>
      </p:pic>
    </p:spTree>
    <p:extLst>
      <p:ext uri="{BB962C8B-B14F-4D97-AF65-F5344CB8AC3E}">
        <p14:creationId xmlns:p14="http://schemas.microsoft.com/office/powerpoint/2010/main" val="3477930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5C5E48-D924-42B2-B6B0-54FAE30BED48}"/>
              </a:ext>
            </a:extLst>
          </p:cNvPr>
          <p:cNvSpPr/>
          <p:nvPr/>
        </p:nvSpPr>
        <p:spPr>
          <a:xfrm>
            <a:off x="2437900" y="628536"/>
            <a:ext cx="1167307" cy="490199"/>
          </a:xfrm>
          <a:prstGeom prst="rect">
            <a:avLst/>
          </a:prstGeom>
        </p:spPr>
        <p:txBody>
          <a:bodyPr wrap="none">
            <a:spAutoFit/>
          </a:bodyPr>
          <a:lstStyle/>
          <a:p>
            <a:pPr>
              <a:lnSpc>
                <a:spcPct val="115000"/>
              </a:lnSpc>
              <a:spcAft>
                <a:spcPts val="0"/>
              </a:spcAft>
            </a:pPr>
            <a:r>
              <a:rPr lang="fr-FR" sz="2400" b="1" dirty="0">
                <a:solidFill>
                  <a:srgbClr val="CB8851"/>
                </a:solidFill>
                <a:latin typeface="Times New Roman" panose="02020603050405020304" pitchFamily="18" charset="0"/>
                <a:ea typeface="Times New Roman" panose="02020603050405020304" pitchFamily="18" charset="0"/>
                <a:cs typeface="Times New Roman" panose="02020603050405020304" pitchFamily="18" charset="0"/>
              </a:rPr>
              <a:t>Outils :</a:t>
            </a:r>
            <a:endParaRPr lang="fr-FR" sz="2000" dirty="0">
              <a:solidFill>
                <a:srgbClr val="CB885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FC79ECA-3B2E-42AB-8553-CB0C16AFD819}"/>
              </a:ext>
            </a:extLst>
          </p:cNvPr>
          <p:cNvSpPr/>
          <p:nvPr/>
        </p:nvSpPr>
        <p:spPr>
          <a:xfrm>
            <a:off x="1291129" y="1118735"/>
            <a:ext cx="4079768" cy="1664879"/>
          </a:xfrm>
          <a:prstGeom prst="rect">
            <a:avLst/>
          </a:prstGeom>
        </p:spPr>
        <p:txBody>
          <a:bodyPr wrap="square">
            <a:spAutoFit/>
          </a:bodyPr>
          <a:lstStyle/>
          <a:p>
            <a:pPr>
              <a:lnSpc>
                <a:spcPct val="115000"/>
              </a:lnSpc>
              <a:spcAft>
                <a:spcPts val="0"/>
              </a:spcAft>
            </a:pPr>
            <a:r>
              <a:rPr lang="fr-FR" dirty="0">
                <a:solidFill>
                  <a:schemeClr val="tx1">
                    <a:lumMod val="95000"/>
                  </a:schemeClr>
                </a:solidFill>
                <a:latin typeface="Times New Roman" panose="02020603050405020304" pitchFamily="18" charset="0"/>
                <a:ea typeface="Times New Roman" panose="02020603050405020304" pitchFamily="18" charset="0"/>
                <a:cs typeface="Times New Roman" panose="02020603050405020304" pitchFamily="18" charset="0"/>
              </a:rPr>
              <a:t>Permet d’accéder à des outils d’assistance tels qu’une calculatrice ou un convertisseur de valeurs (décimal / hexadécimal), utiles lors de l’écriture et de l’analyse des programmes assembleur.</a:t>
            </a:r>
            <a:endParaRPr lang="fr-FR" sz="16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a16="http://schemas.microsoft.com/office/drawing/2014/main" id="{54D7C7BC-C730-4EF3-85B3-BB4AB3C266CD}"/>
              </a:ext>
            </a:extLst>
          </p:cNvPr>
          <p:cNvPicPr/>
          <p:nvPr/>
        </p:nvPicPr>
        <p:blipFill>
          <a:blip r:embed="rId2"/>
          <a:stretch>
            <a:fillRect/>
          </a:stretch>
        </p:blipFill>
        <p:spPr>
          <a:xfrm>
            <a:off x="5871493" y="928780"/>
            <a:ext cx="2538362" cy="2019300"/>
          </a:xfrm>
          <a:prstGeom prst="rect">
            <a:avLst/>
          </a:prstGeom>
        </p:spPr>
      </p:pic>
      <p:sp>
        <p:nvSpPr>
          <p:cNvPr id="8" name="Rectangle 7">
            <a:extLst>
              <a:ext uri="{FF2B5EF4-FFF2-40B4-BE49-F238E27FC236}">
                <a16:creationId xmlns:a16="http://schemas.microsoft.com/office/drawing/2014/main" id="{0A7A6281-5424-4034-8A21-BD101F65C338}"/>
              </a:ext>
            </a:extLst>
          </p:cNvPr>
          <p:cNvSpPr/>
          <p:nvPr/>
        </p:nvSpPr>
        <p:spPr>
          <a:xfrm>
            <a:off x="1901484" y="3466946"/>
            <a:ext cx="1365310" cy="490199"/>
          </a:xfrm>
          <a:prstGeom prst="rect">
            <a:avLst/>
          </a:prstGeom>
        </p:spPr>
        <p:txBody>
          <a:bodyPr wrap="none">
            <a:spAutoFit/>
          </a:bodyPr>
          <a:lstStyle/>
          <a:p>
            <a:pPr>
              <a:lnSpc>
                <a:spcPct val="115000"/>
              </a:lnSpc>
              <a:spcAft>
                <a:spcPts val="0"/>
              </a:spcAft>
            </a:pPr>
            <a:r>
              <a:rPr lang="fr-FR" sz="2400" b="1" dirty="0">
                <a:solidFill>
                  <a:srgbClr val="CB8851"/>
                </a:solidFill>
                <a:latin typeface="Times New Roman" panose="02020603050405020304" pitchFamily="18" charset="0"/>
                <a:ea typeface="Times New Roman" panose="02020603050405020304" pitchFamily="18" charset="0"/>
                <a:cs typeface="Times New Roman" panose="02020603050405020304" pitchFamily="18" charset="0"/>
              </a:rPr>
              <a:t>Fenêtre</a:t>
            </a:r>
            <a:r>
              <a:rPr lang="fr-FR"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fr-FR" sz="2400" b="1" dirty="0">
                <a:solidFill>
                  <a:srgbClr val="CB8851"/>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2000" dirty="0">
              <a:solidFill>
                <a:srgbClr val="CB885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93F44A56-2BB0-4940-B208-9731A28413DE}"/>
              </a:ext>
            </a:extLst>
          </p:cNvPr>
          <p:cNvSpPr/>
          <p:nvPr/>
        </p:nvSpPr>
        <p:spPr>
          <a:xfrm>
            <a:off x="1056814" y="3957145"/>
            <a:ext cx="4079769" cy="1664879"/>
          </a:xfrm>
          <a:prstGeom prst="rect">
            <a:avLst/>
          </a:prstGeom>
        </p:spPr>
        <p:txBody>
          <a:bodyPr wrap="square">
            <a:spAutoFit/>
          </a:bodyPr>
          <a:lstStyle/>
          <a:p>
            <a:pPr algn="just">
              <a:lnSpc>
                <a:spcPct val="11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Permet d’afficher ou de masquer les différentes fenêtres du simulateur, notamment celles liées à la mémoire (RAM et ROM), afin d’adapter l’interface aux besoins de l’utilisateur.</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BBF97E61-D872-4FF7-9F9F-3741BF986B38}"/>
              </a:ext>
            </a:extLst>
          </p:cNvPr>
          <p:cNvSpPr/>
          <p:nvPr/>
        </p:nvSpPr>
        <p:spPr>
          <a:xfrm>
            <a:off x="7781562" y="3509713"/>
            <a:ext cx="1407758" cy="490199"/>
          </a:xfrm>
          <a:prstGeom prst="rect">
            <a:avLst/>
          </a:prstGeom>
        </p:spPr>
        <p:txBody>
          <a:bodyPr wrap="none">
            <a:spAutoFit/>
          </a:bodyPr>
          <a:lstStyle/>
          <a:p>
            <a:pPr>
              <a:lnSpc>
                <a:spcPct val="115000"/>
              </a:lnSpc>
              <a:spcAft>
                <a:spcPts val="0"/>
              </a:spcAft>
            </a:pPr>
            <a:r>
              <a:rPr lang="fr-FR" sz="2400" b="1" dirty="0">
                <a:solidFill>
                  <a:srgbClr val="CB8851"/>
                </a:solidFill>
                <a:latin typeface="Times New Roman" panose="02020603050405020304" pitchFamily="18" charset="0"/>
                <a:ea typeface="Times New Roman" panose="02020603050405020304" pitchFamily="18" charset="0"/>
                <a:cs typeface="Times New Roman" panose="02020603050405020304" pitchFamily="18" charset="0"/>
              </a:rPr>
              <a:t>Options :</a:t>
            </a:r>
            <a:endParaRPr lang="fr-FR" sz="2000" dirty="0">
              <a:solidFill>
                <a:srgbClr val="CB885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9CB3C8C5-7A91-481E-AF2D-63A6BD6AA76D}"/>
              </a:ext>
            </a:extLst>
          </p:cNvPr>
          <p:cNvSpPr/>
          <p:nvPr/>
        </p:nvSpPr>
        <p:spPr>
          <a:xfrm>
            <a:off x="5871493" y="3999912"/>
            <a:ext cx="5666489" cy="390684"/>
          </a:xfrm>
          <a:prstGeom prst="rect">
            <a:avLst/>
          </a:prstGeom>
        </p:spPr>
        <p:txBody>
          <a:bodyPr wrap="square">
            <a:spAutoFit/>
          </a:bodyPr>
          <a:lstStyle/>
          <a:p>
            <a:pPr algn="ctr">
              <a:lnSpc>
                <a:spcPct val="11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Regroupe les paramètres de configuration du simulateur.</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CDACDE76-6B9E-498E-8EAF-47FDFB5637EE}"/>
              </a:ext>
            </a:extLst>
          </p:cNvPr>
          <p:cNvSpPr/>
          <p:nvPr/>
        </p:nvSpPr>
        <p:spPr>
          <a:xfrm>
            <a:off x="7995564" y="4747457"/>
            <a:ext cx="979755" cy="490199"/>
          </a:xfrm>
          <a:prstGeom prst="rect">
            <a:avLst/>
          </a:prstGeom>
        </p:spPr>
        <p:txBody>
          <a:bodyPr wrap="none">
            <a:spAutoFit/>
          </a:bodyPr>
          <a:lstStyle/>
          <a:p>
            <a:pPr>
              <a:lnSpc>
                <a:spcPct val="115000"/>
              </a:lnSpc>
              <a:spcAft>
                <a:spcPts val="0"/>
              </a:spcAft>
            </a:pPr>
            <a:r>
              <a:rPr lang="fr-FR" sz="2400" b="1" dirty="0">
                <a:solidFill>
                  <a:srgbClr val="CB8851"/>
                </a:solidFill>
                <a:latin typeface="Times New Roman" panose="02020603050405020304" pitchFamily="18" charset="0"/>
                <a:ea typeface="Times New Roman" panose="02020603050405020304" pitchFamily="18" charset="0"/>
                <a:cs typeface="Times New Roman" panose="02020603050405020304" pitchFamily="18" charset="0"/>
              </a:rPr>
              <a:t>Aide :</a:t>
            </a:r>
            <a:endParaRPr lang="fr-FR" sz="2000" dirty="0">
              <a:solidFill>
                <a:srgbClr val="CB885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C7E02098-BBDF-4A63-8C1F-CD13532D9421}"/>
              </a:ext>
            </a:extLst>
          </p:cNvPr>
          <p:cNvSpPr/>
          <p:nvPr/>
        </p:nvSpPr>
        <p:spPr>
          <a:xfrm>
            <a:off x="5722474" y="5228031"/>
            <a:ext cx="5525934" cy="709233"/>
          </a:xfrm>
          <a:prstGeom prst="rect">
            <a:avLst/>
          </a:prstGeom>
        </p:spPr>
        <p:txBody>
          <a:bodyPr wrap="square">
            <a:spAutoFit/>
          </a:bodyPr>
          <a:lstStyle/>
          <a:p>
            <a:pPr algn="ctr">
              <a:lnSpc>
                <a:spcPct val="11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Fournit des informations générales sur l’utilisation de l’application.</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Image 13">
            <a:extLst>
              <a:ext uri="{FF2B5EF4-FFF2-40B4-BE49-F238E27FC236}">
                <a16:creationId xmlns:a16="http://schemas.microsoft.com/office/drawing/2014/main" id="{0166C0FF-44B4-4509-AA86-1511B3928377}"/>
              </a:ext>
            </a:extLst>
          </p:cNvPr>
          <p:cNvPicPr>
            <a:picLocks noChangeAspect="1"/>
          </p:cNvPicPr>
          <p:nvPr/>
        </p:nvPicPr>
        <p:blipFill>
          <a:blip r:embed="rId3"/>
          <a:stretch>
            <a:fillRect/>
          </a:stretch>
        </p:blipFill>
        <p:spPr>
          <a:xfrm>
            <a:off x="9189320" y="391420"/>
            <a:ext cx="1581837" cy="2630913"/>
          </a:xfrm>
          <a:prstGeom prst="rect">
            <a:avLst/>
          </a:prstGeom>
        </p:spPr>
      </p:pic>
    </p:spTree>
    <p:extLst>
      <p:ext uri="{BB962C8B-B14F-4D97-AF65-F5344CB8AC3E}">
        <p14:creationId xmlns:p14="http://schemas.microsoft.com/office/powerpoint/2010/main" val="2715640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6D80C572-C213-4A99-8ABF-AC246165EF29}"/>
              </a:ext>
            </a:extLst>
          </p:cNvPr>
          <p:cNvSpPr/>
          <p:nvPr/>
        </p:nvSpPr>
        <p:spPr>
          <a:xfrm>
            <a:off x="1400707" y="1177885"/>
            <a:ext cx="5670590" cy="710323"/>
          </a:xfrm>
          <a:prstGeom prst="rect">
            <a:avLst/>
          </a:prstGeom>
          <a:noFill/>
          <a:ln/>
        </p:spPr>
        <p:txBody>
          <a:bodyPr wrap="none" lIns="0" tIns="0" rIns="0" bIns="0" rtlCol="0" anchor="t"/>
          <a:lstStyle/>
          <a:p>
            <a:pPr marL="0" indent="0" algn="l">
              <a:lnSpc>
                <a:spcPts val="5550"/>
              </a:lnSpc>
              <a:buNone/>
            </a:pPr>
            <a:r>
              <a:rPr lang="en-US" sz="4800" b="1" dirty="0">
                <a:latin typeface="Outfit Extra Bold" pitchFamily="34" charset="0"/>
              </a:rPr>
              <a:t>Barre d’Outils</a:t>
            </a:r>
            <a:endParaRPr lang="en-US" sz="4800" dirty="0"/>
          </a:p>
        </p:txBody>
      </p:sp>
      <p:sp>
        <p:nvSpPr>
          <p:cNvPr id="6" name="Rectangle 5">
            <a:extLst>
              <a:ext uri="{FF2B5EF4-FFF2-40B4-BE49-F238E27FC236}">
                <a16:creationId xmlns:a16="http://schemas.microsoft.com/office/drawing/2014/main" id="{CE8A4030-EE56-49FB-9C71-B45E2170F8F3}"/>
              </a:ext>
            </a:extLst>
          </p:cNvPr>
          <p:cNvSpPr/>
          <p:nvPr/>
        </p:nvSpPr>
        <p:spPr>
          <a:xfrm>
            <a:off x="1400707" y="2819025"/>
            <a:ext cx="9390585" cy="709233"/>
          </a:xfrm>
          <a:prstGeom prst="rect">
            <a:avLst/>
          </a:prstGeom>
        </p:spPr>
        <p:txBody>
          <a:bodyPr wrap="square">
            <a:spAutoFit/>
          </a:bodyPr>
          <a:lstStyle/>
          <a:p>
            <a:pPr>
              <a:lnSpc>
                <a:spcPct val="115000"/>
              </a:lnSpc>
              <a:spcAft>
                <a:spcPts val="0"/>
              </a:spcAft>
            </a:pPr>
            <a:r>
              <a:rPr lang="fr-FR" dirty="0">
                <a:solidFill>
                  <a:schemeClr val="tx1">
                    <a:lumMod val="95000"/>
                  </a:schemeClr>
                </a:solidFill>
                <a:latin typeface="Times New Roman" panose="02020603050405020304" pitchFamily="18" charset="0"/>
                <a:ea typeface="Times New Roman" panose="02020603050405020304" pitchFamily="18" charset="0"/>
                <a:cs typeface="Times New Roman" panose="02020603050405020304" pitchFamily="18" charset="0"/>
              </a:rPr>
              <a:t>La barre d’outils propose un accès direct aux actions les plus utilisées, sans passer par les menus. Elle facilite la manipulation rapide du simulateur lors des phases de test et de débogage.</a:t>
            </a:r>
            <a:endParaRPr lang="fr-FR" sz="16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F09D8A1B-0DD5-4A96-A2D7-0E5224F651CB}"/>
              </a:ext>
            </a:extLst>
          </p:cNvPr>
          <p:cNvSpPr/>
          <p:nvPr/>
        </p:nvSpPr>
        <p:spPr>
          <a:xfrm>
            <a:off x="1400707" y="3611291"/>
            <a:ext cx="6761516" cy="2514343"/>
          </a:xfrm>
          <a:prstGeom prst="rect">
            <a:avLst/>
          </a:prstGeom>
        </p:spPr>
        <p:txBody>
          <a:bodyPr wrap="square">
            <a:spAutoFit/>
          </a:bodyPr>
          <a:lstStyle/>
          <a:p>
            <a:pPr>
              <a:lnSpc>
                <a:spcPct val="11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Elle permet en autres :</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15000"/>
              </a:lnSpc>
              <a:spcAft>
                <a:spcPts val="0"/>
              </a:spcAft>
              <a:buFontTx/>
              <a:buChar char="-"/>
            </a:pPr>
            <a:r>
              <a:rPr lang="fr-FR" dirty="0">
                <a:latin typeface="Times New Roman" panose="02020603050405020304" pitchFamily="18" charset="0"/>
                <a:ea typeface="Times New Roman" panose="02020603050405020304" pitchFamily="18" charset="0"/>
                <a:cs typeface="Times New Roman" panose="02020603050405020304" pitchFamily="18" charset="0"/>
              </a:rPr>
              <a:t>De créer, ouvrir ou sauvegarder un programme</a:t>
            </a:r>
          </a:p>
          <a:p>
            <a:pPr marL="285750" indent="-285750">
              <a:lnSpc>
                <a:spcPct val="115000"/>
              </a:lnSpc>
              <a:spcAft>
                <a:spcPts val="0"/>
              </a:spcAft>
              <a:buFontTx/>
              <a:buChar char="-"/>
            </a:pP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15000"/>
              </a:lnSpc>
              <a:spcAft>
                <a:spcPts val="0"/>
              </a:spcAft>
              <a:buFontTx/>
              <a:buChar char="-"/>
            </a:pPr>
            <a:r>
              <a:rPr lang="fr-FR" dirty="0">
                <a:latin typeface="Times New Roman" panose="02020603050405020304" pitchFamily="18" charset="0"/>
                <a:ea typeface="Times New Roman" panose="02020603050405020304" pitchFamily="18" charset="0"/>
                <a:cs typeface="Times New Roman" panose="02020603050405020304" pitchFamily="18" charset="0"/>
              </a:rPr>
              <a:t>De lancer la simulation</a:t>
            </a:r>
          </a:p>
          <a:p>
            <a:pPr marL="285750" indent="-285750">
              <a:lnSpc>
                <a:spcPct val="115000"/>
              </a:lnSpc>
              <a:spcAft>
                <a:spcPts val="0"/>
              </a:spcAft>
              <a:buFontTx/>
              <a:buChar char="-"/>
            </a:pP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15000"/>
              </a:lnSpc>
              <a:spcAft>
                <a:spcPts val="0"/>
              </a:spcAft>
              <a:buFontTx/>
              <a:buChar char="-"/>
            </a:pPr>
            <a:r>
              <a:rPr lang="fr-FR" dirty="0">
                <a:latin typeface="Times New Roman" panose="02020603050405020304" pitchFamily="18" charset="0"/>
                <a:ea typeface="Times New Roman" panose="02020603050405020304" pitchFamily="18" charset="0"/>
                <a:cs typeface="Times New Roman" panose="02020603050405020304" pitchFamily="18" charset="0"/>
              </a:rPr>
              <a:t>D’exécuter le programme en mode pas à pas ou Run</a:t>
            </a:r>
          </a:p>
          <a:p>
            <a:pPr marL="285750" indent="-285750">
              <a:lnSpc>
                <a:spcPct val="115000"/>
              </a:lnSpc>
              <a:spcAft>
                <a:spcPts val="0"/>
              </a:spcAft>
              <a:buFontTx/>
              <a:buChar char="-"/>
            </a:pP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D’arrêter ou de réinitialiser l’exécution</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 9">
            <a:extLst>
              <a:ext uri="{FF2B5EF4-FFF2-40B4-BE49-F238E27FC236}">
                <a16:creationId xmlns:a16="http://schemas.microsoft.com/office/drawing/2014/main" id="{A3581599-4FFE-498C-B9B7-0E92A28662B9}"/>
              </a:ext>
            </a:extLst>
          </p:cNvPr>
          <p:cNvPicPr>
            <a:picLocks noChangeAspect="1"/>
          </p:cNvPicPr>
          <p:nvPr/>
        </p:nvPicPr>
        <p:blipFill>
          <a:blip r:embed="rId2"/>
          <a:stretch>
            <a:fillRect/>
          </a:stretch>
        </p:blipFill>
        <p:spPr>
          <a:xfrm>
            <a:off x="1370459" y="2124096"/>
            <a:ext cx="9390585" cy="418723"/>
          </a:xfrm>
          <a:prstGeom prst="rect">
            <a:avLst/>
          </a:prstGeom>
        </p:spPr>
      </p:pic>
    </p:spTree>
    <p:extLst>
      <p:ext uri="{BB962C8B-B14F-4D97-AF65-F5344CB8AC3E}">
        <p14:creationId xmlns:p14="http://schemas.microsoft.com/office/powerpoint/2010/main" val="321160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0B5471E6-F9F2-4A14-8CB3-F73DBB85F2D8}"/>
              </a:ext>
            </a:extLst>
          </p:cNvPr>
          <p:cNvSpPr/>
          <p:nvPr/>
        </p:nvSpPr>
        <p:spPr>
          <a:xfrm>
            <a:off x="1118255" y="1167631"/>
            <a:ext cx="8124068" cy="710323"/>
          </a:xfrm>
          <a:prstGeom prst="rect">
            <a:avLst/>
          </a:prstGeom>
          <a:noFill/>
          <a:ln/>
        </p:spPr>
        <p:txBody>
          <a:bodyPr wrap="none" lIns="0" tIns="0" rIns="0" bIns="0" rtlCol="0" anchor="t"/>
          <a:lstStyle/>
          <a:p>
            <a:pPr marL="0" indent="0" algn="l">
              <a:lnSpc>
                <a:spcPts val="5550"/>
              </a:lnSpc>
              <a:buNone/>
            </a:pPr>
            <a:r>
              <a:rPr lang="en-US" sz="4450" b="1" dirty="0">
                <a:latin typeface="Outfit Extra Bold" pitchFamily="34" charset="0"/>
              </a:rPr>
              <a:t>Zone Centrale de Simulation</a:t>
            </a:r>
            <a:endParaRPr lang="en-US" sz="4450" dirty="0"/>
          </a:p>
        </p:txBody>
      </p:sp>
      <p:sp>
        <p:nvSpPr>
          <p:cNvPr id="7" name="Rectangle 2">
            <a:extLst>
              <a:ext uri="{FF2B5EF4-FFF2-40B4-BE49-F238E27FC236}">
                <a16:creationId xmlns:a16="http://schemas.microsoft.com/office/drawing/2014/main" id="{89717367-EF1E-49B3-8046-53B41B15AA80}"/>
              </a:ext>
            </a:extLst>
          </p:cNvPr>
          <p:cNvSpPr>
            <a:spLocks noChangeArrowheads="1"/>
          </p:cNvSpPr>
          <p:nvPr/>
        </p:nvSpPr>
        <p:spPr bwMode="auto">
          <a:xfrm>
            <a:off x="5941593" y="2660569"/>
            <a:ext cx="560085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 Visualise l’architecture interne du microprocesseur</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 Suivi en temps réel des registres et indicateurs d’état</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 Exécution des instructions : impact direct sur le processeur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 Mise à jour automatique (mode continu ou pas à pas)</a:t>
            </a:r>
          </a:p>
        </p:txBody>
      </p:sp>
      <p:pic>
        <p:nvPicPr>
          <p:cNvPr id="8" name="Image 7">
            <a:extLst>
              <a:ext uri="{FF2B5EF4-FFF2-40B4-BE49-F238E27FC236}">
                <a16:creationId xmlns:a16="http://schemas.microsoft.com/office/drawing/2014/main" id="{B622939A-23E4-44BE-811B-52BC9FBABD27}"/>
              </a:ext>
            </a:extLst>
          </p:cNvPr>
          <p:cNvPicPr>
            <a:picLocks noChangeAspect="1"/>
          </p:cNvPicPr>
          <p:nvPr/>
        </p:nvPicPr>
        <p:blipFill>
          <a:blip r:embed="rId2"/>
          <a:stretch>
            <a:fillRect/>
          </a:stretch>
        </p:blipFill>
        <p:spPr>
          <a:xfrm>
            <a:off x="1301194" y="2300439"/>
            <a:ext cx="3982230" cy="3590222"/>
          </a:xfrm>
          <a:prstGeom prst="rect">
            <a:avLst/>
          </a:prstGeom>
        </p:spPr>
      </p:pic>
    </p:spTree>
    <p:extLst>
      <p:ext uri="{BB962C8B-B14F-4D97-AF65-F5344CB8AC3E}">
        <p14:creationId xmlns:p14="http://schemas.microsoft.com/office/powerpoint/2010/main" val="2228573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03EC5DF5-DA80-4534-A5CE-3A228D5E2152}"/>
              </a:ext>
            </a:extLst>
          </p:cNvPr>
          <p:cNvSpPr/>
          <p:nvPr/>
        </p:nvSpPr>
        <p:spPr>
          <a:xfrm>
            <a:off x="1695770" y="1100254"/>
            <a:ext cx="9248154" cy="710323"/>
          </a:xfrm>
          <a:prstGeom prst="rect">
            <a:avLst/>
          </a:prstGeom>
          <a:noFill/>
          <a:ln/>
        </p:spPr>
        <p:txBody>
          <a:bodyPr wrap="none" lIns="0" tIns="0" rIns="0" bIns="0" rtlCol="0" anchor="t"/>
          <a:lstStyle/>
          <a:p>
            <a:pPr marL="0" indent="0" algn="l">
              <a:lnSpc>
                <a:spcPts val="5550"/>
              </a:lnSpc>
              <a:buNone/>
            </a:pPr>
            <a:r>
              <a:rPr lang="en-US" sz="4450" b="1" dirty="0">
                <a:latin typeface="Outfit Extra Bold" pitchFamily="34" charset="0"/>
              </a:rPr>
              <a:t>ALGORITHME DE COMPILATION</a:t>
            </a:r>
            <a:endParaRPr lang="en-US" sz="4450" dirty="0"/>
          </a:p>
        </p:txBody>
      </p:sp>
      <p:sp>
        <p:nvSpPr>
          <p:cNvPr id="6" name="Text 1">
            <a:extLst>
              <a:ext uri="{FF2B5EF4-FFF2-40B4-BE49-F238E27FC236}">
                <a16:creationId xmlns:a16="http://schemas.microsoft.com/office/drawing/2014/main" id="{7F8426D0-5B03-4CD6-9279-3CDFAC5F6463}"/>
              </a:ext>
            </a:extLst>
          </p:cNvPr>
          <p:cNvSpPr/>
          <p:nvPr/>
        </p:nvSpPr>
        <p:spPr>
          <a:xfrm>
            <a:off x="1695770" y="2718677"/>
            <a:ext cx="10729617" cy="710323"/>
          </a:xfrm>
          <a:prstGeom prst="rect">
            <a:avLst/>
          </a:prstGeom>
          <a:noFill/>
          <a:ln/>
        </p:spPr>
        <p:txBody>
          <a:bodyPr wrap="none" lIns="0" tIns="0" rIns="0" bIns="0" rtlCol="0" anchor="t"/>
          <a:lstStyle/>
          <a:p>
            <a:pPr marL="0" indent="0" algn="l">
              <a:lnSpc>
                <a:spcPts val="5550"/>
              </a:lnSpc>
              <a:buNone/>
            </a:pPr>
            <a:r>
              <a:rPr lang="en-US" sz="3200" b="1" dirty="0" err="1">
                <a:solidFill>
                  <a:schemeClr val="tx2">
                    <a:lumMod val="90000"/>
                  </a:schemeClr>
                </a:solidFill>
                <a:latin typeface="Outfit Extra Bold" pitchFamily="34" charset="0"/>
              </a:rPr>
              <a:t>Etape</a:t>
            </a:r>
            <a:r>
              <a:rPr lang="en-US" sz="3200" b="1" dirty="0">
                <a:solidFill>
                  <a:schemeClr val="tx2">
                    <a:lumMod val="90000"/>
                  </a:schemeClr>
                </a:solidFill>
                <a:latin typeface="Outfit Extra Bold" pitchFamily="34" charset="0"/>
              </a:rPr>
              <a:t> 1: Lecture du </a:t>
            </a:r>
            <a:r>
              <a:rPr lang="en-US" sz="3200" b="1" dirty="0" err="1">
                <a:solidFill>
                  <a:schemeClr val="tx2">
                    <a:lumMod val="90000"/>
                  </a:schemeClr>
                </a:solidFill>
                <a:latin typeface="Outfit Extra Bold" pitchFamily="34" charset="0"/>
              </a:rPr>
              <a:t>Programme</a:t>
            </a:r>
            <a:r>
              <a:rPr lang="en-US" sz="3200" b="1" dirty="0">
                <a:solidFill>
                  <a:schemeClr val="tx2">
                    <a:lumMod val="90000"/>
                  </a:schemeClr>
                </a:solidFill>
                <a:latin typeface="Outfit Extra Bold" pitchFamily="34" charset="0"/>
              </a:rPr>
              <a:t> source</a:t>
            </a:r>
            <a:endParaRPr lang="en-US" sz="3200" dirty="0">
              <a:solidFill>
                <a:schemeClr val="tx2">
                  <a:lumMod val="90000"/>
                </a:schemeClr>
              </a:solidFill>
            </a:endParaRPr>
          </a:p>
        </p:txBody>
      </p:sp>
      <p:sp>
        <p:nvSpPr>
          <p:cNvPr id="7" name="Rectangle 2">
            <a:extLst>
              <a:ext uri="{FF2B5EF4-FFF2-40B4-BE49-F238E27FC236}">
                <a16:creationId xmlns:a16="http://schemas.microsoft.com/office/drawing/2014/main" id="{B88667A2-2F75-4D4B-9087-8515418A9259}"/>
              </a:ext>
            </a:extLst>
          </p:cNvPr>
          <p:cNvSpPr>
            <a:spLocks noChangeArrowheads="1"/>
          </p:cNvSpPr>
          <p:nvPr/>
        </p:nvSpPr>
        <p:spPr bwMode="auto">
          <a:xfrm>
            <a:off x="2064153" y="3642006"/>
            <a:ext cx="806369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 Lecture ligne par ligne du fichier assembleur</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 Suppression de lignes vides, espaces inutiles</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 Préparation des lignes pour l’analyse</a:t>
            </a:r>
          </a:p>
        </p:txBody>
      </p:sp>
    </p:spTree>
    <p:extLst>
      <p:ext uri="{BB962C8B-B14F-4D97-AF65-F5344CB8AC3E}">
        <p14:creationId xmlns:p14="http://schemas.microsoft.com/office/powerpoint/2010/main" val="3700418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43F21A73-A056-456C-A731-4D5F3803EB61}"/>
              </a:ext>
            </a:extLst>
          </p:cNvPr>
          <p:cNvSpPr/>
          <p:nvPr/>
        </p:nvSpPr>
        <p:spPr>
          <a:xfrm>
            <a:off x="786199" y="1365260"/>
            <a:ext cx="4745255" cy="881918"/>
          </a:xfrm>
          <a:prstGeom prst="rect">
            <a:avLst/>
          </a:prstGeom>
          <a:noFill/>
          <a:ln/>
        </p:spPr>
        <p:txBody>
          <a:bodyPr wrap="none" lIns="0" tIns="0" rIns="0" bIns="0" rtlCol="0" anchor="t"/>
          <a:lstStyle/>
          <a:p>
            <a:pPr marL="0" indent="0" algn="ctr">
              <a:lnSpc>
                <a:spcPts val="5550"/>
              </a:lnSpc>
              <a:buNone/>
            </a:pPr>
            <a:r>
              <a:rPr lang="en-US" sz="2400" b="1" dirty="0" err="1">
                <a:solidFill>
                  <a:schemeClr val="tx2">
                    <a:lumMod val="90000"/>
                  </a:schemeClr>
                </a:solidFill>
                <a:latin typeface="Outfit Extra Bold" pitchFamily="34" charset="0"/>
              </a:rPr>
              <a:t>Etape</a:t>
            </a:r>
            <a:r>
              <a:rPr lang="en-US" sz="2400" b="1" dirty="0">
                <a:solidFill>
                  <a:schemeClr val="tx2">
                    <a:lumMod val="90000"/>
                  </a:schemeClr>
                </a:solidFill>
                <a:latin typeface="Outfit Extra Bold" pitchFamily="34" charset="0"/>
              </a:rPr>
              <a:t> 2: Première </a:t>
            </a:r>
            <a:r>
              <a:rPr lang="en-US" sz="2400" b="1" dirty="0" err="1">
                <a:solidFill>
                  <a:schemeClr val="tx2">
                    <a:lumMod val="90000"/>
                  </a:schemeClr>
                </a:solidFill>
                <a:latin typeface="Outfit Extra Bold" pitchFamily="34" charset="0"/>
              </a:rPr>
              <a:t>passe</a:t>
            </a:r>
            <a:endParaRPr lang="en-US" sz="2400" dirty="0">
              <a:solidFill>
                <a:schemeClr val="tx2">
                  <a:lumMod val="90000"/>
                </a:schemeClr>
              </a:solidFill>
            </a:endParaRPr>
          </a:p>
        </p:txBody>
      </p:sp>
      <p:sp>
        <p:nvSpPr>
          <p:cNvPr id="5" name="Rectangle 4">
            <a:extLst>
              <a:ext uri="{FF2B5EF4-FFF2-40B4-BE49-F238E27FC236}">
                <a16:creationId xmlns:a16="http://schemas.microsoft.com/office/drawing/2014/main" id="{410554FF-DF6A-4E9F-B344-AF768A9C890D}"/>
              </a:ext>
            </a:extLst>
          </p:cNvPr>
          <p:cNvSpPr/>
          <p:nvPr/>
        </p:nvSpPr>
        <p:spPr>
          <a:xfrm>
            <a:off x="786199" y="2821552"/>
            <a:ext cx="5171839" cy="2862322"/>
          </a:xfrm>
          <a:prstGeom prst="rect">
            <a:avLst/>
          </a:prstGeom>
        </p:spPr>
        <p:txBody>
          <a:bodyPr wrap="square">
            <a:spAutoFit/>
          </a:bodyPr>
          <a:lstStyle/>
          <a:p>
            <a:pPr>
              <a:buFont typeface="Arial" panose="020B0604020202020204" pitchFamily="34" charset="0"/>
              <a:buChar char="•"/>
            </a:pPr>
            <a:r>
              <a:rPr lang="fr-FR" dirty="0">
                <a:latin typeface="Arial" panose="020B0604020202020204" pitchFamily="34" charset="0"/>
                <a:cs typeface="Arial" panose="020B0604020202020204" pitchFamily="34" charset="0"/>
              </a:rPr>
              <a:t> </a:t>
            </a:r>
            <a:r>
              <a:rPr lang="fr-FR" sz="2000" dirty="0">
                <a:solidFill>
                  <a:schemeClr val="tx1">
                    <a:lumMod val="95000"/>
                  </a:schemeClr>
                </a:solidFill>
                <a:latin typeface="Arial" panose="020B0604020202020204" pitchFamily="34" charset="0"/>
                <a:cs typeface="Arial" panose="020B0604020202020204" pitchFamily="34" charset="0"/>
              </a:rPr>
              <a:t>Initialisation du compteur ordinal (PC)</a:t>
            </a:r>
          </a:p>
          <a:p>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 Détection des étiquettes (labels)</a:t>
            </a:r>
          </a:p>
          <a:p>
            <a:pPr>
              <a:buFont typeface="Arial" panose="020B0604020202020204" pitchFamily="34" charset="0"/>
              <a:buChar char="•"/>
            </a:pPr>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 Association : étiquette → adresse mémoire</a:t>
            </a:r>
          </a:p>
          <a:p>
            <a:pPr>
              <a:buFont typeface="Arial" panose="020B0604020202020204" pitchFamily="34" charset="0"/>
              <a:buChar char="•"/>
            </a:pPr>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 Calcul de la taille des instructions</a:t>
            </a:r>
          </a:p>
          <a:p>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 Mise à jour du PC</a:t>
            </a:r>
          </a:p>
        </p:txBody>
      </p:sp>
      <p:sp>
        <p:nvSpPr>
          <p:cNvPr id="6" name="Rectangle 5">
            <a:extLst>
              <a:ext uri="{FF2B5EF4-FFF2-40B4-BE49-F238E27FC236}">
                <a16:creationId xmlns:a16="http://schemas.microsoft.com/office/drawing/2014/main" id="{6739022E-8DD3-4145-8A7E-1EFB1ECEB922}"/>
              </a:ext>
            </a:extLst>
          </p:cNvPr>
          <p:cNvSpPr/>
          <p:nvPr/>
        </p:nvSpPr>
        <p:spPr>
          <a:xfrm>
            <a:off x="786199" y="2218087"/>
            <a:ext cx="4544834" cy="369332"/>
          </a:xfrm>
          <a:prstGeom prst="rect">
            <a:avLst/>
          </a:prstGeom>
        </p:spPr>
        <p:txBody>
          <a:bodyPr wrap="none">
            <a:spAutoFit/>
          </a:bodyPr>
          <a:lstStyle/>
          <a:p>
            <a:r>
              <a:rPr lang="fr-FR" b="1" dirty="0">
                <a:solidFill>
                  <a:srgbClr val="CB8851"/>
                </a:solidFill>
                <a:latin typeface="Arial" panose="020B0604020202020204" pitchFamily="34" charset="0"/>
                <a:cs typeface="Arial" panose="020B0604020202020204" pitchFamily="34" charset="0"/>
              </a:rPr>
              <a:t>Objectif : </a:t>
            </a:r>
            <a:r>
              <a:rPr lang="fr-FR" dirty="0">
                <a:solidFill>
                  <a:schemeClr val="tx1">
                    <a:lumMod val="95000"/>
                  </a:schemeClr>
                </a:solidFill>
                <a:latin typeface="Arial" panose="020B0604020202020204" pitchFamily="34" charset="0"/>
                <a:cs typeface="Arial" panose="020B0604020202020204" pitchFamily="34" charset="0"/>
              </a:rPr>
              <a:t>construire la table des symboles</a:t>
            </a:r>
          </a:p>
        </p:txBody>
      </p:sp>
      <p:sp>
        <p:nvSpPr>
          <p:cNvPr id="8" name="Text 1">
            <a:extLst>
              <a:ext uri="{FF2B5EF4-FFF2-40B4-BE49-F238E27FC236}">
                <a16:creationId xmlns:a16="http://schemas.microsoft.com/office/drawing/2014/main" id="{1032AC33-351B-4136-9D3A-F09B102C2CB5}"/>
              </a:ext>
            </a:extLst>
          </p:cNvPr>
          <p:cNvSpPr/>
          <p:nvPr/>
        </p:nvSpPr>
        <p:spPr>
          <a:xfrm>
            <a:off x="6965481" y="1365260"/>
            <a:ext cx="5024133" cy="636698"/>
          </a:xfrm>
          <a:prstGeom prst="rect">
            <a:avLst/>
          </a:prstGeom>
          <a:noFill/>
          <a:ln/>
        </p:spPr>
        <p:txBody>
          <a:bodyPr wrap="none" lIns="0" tIns="0" rIns="0" bIns="0" rtlCol="0" anchor="t"/>
          <a:lstStyle/>
          <a:p>
            <a:pPr marL="0" indent="0" algn="l">
              <a:lnSpc>
                <a:spcPts val="5550"/>
              </a:lnSpc>
              <a:buNone/>
            </a:pPr>
            <a:r>
              <a:rPr lang="en-US" sz="2400" b="1" dirty="0" err="1">
                <a:solidFill>
                  <a:schemeClr val="tx2">
                    <a:lumMod val="90000"/>
                  </a:schemeClr>
                </a:solidFill>
                <a:latin typeface="Outfit Extra Bold" pitchFamily="34" charset="0"/>
              </a:rPr>
              <a:t>Etape</a:t>
            </a:r>
            <a:r>
              <a:rPr lang="en-US" sz="2400" b="1" dirty="0">
                <a:solidFill>
                  <a:schemeClr val="tx2">
                    <a:lumMod val="90000"/>
                  </a:schemeClr>
                </a:solidFill>
                <a:latin typeface="Outfit Extra Bold" pitchFamily="34" charset="0"/>
              </a:rPr>
              <a:t> 3: </a:t>
            </a:r>
            <a:r>
              <a:rPr lang="en-US" sz="2400" b="1" dirty="0" err="1">
                <a:solidFill>
                  <a:schemeClr val="tx2">
                    <a:lumMod val="90000"/>
                  </a:schemeClr>
                </a:solidFill>
                <a:latin typeface="Outfit Extra Bold" pitchFamily="34" charset="0"/>
              </a:rPr>
              <a:t>Deuxième</a:t>
            </a:r>
            <a:r>
              <a:rPr lang="en-US" sz="2400" b="1" dirty="0">
                <a:solidFill>
                  <a:schemeClr val="tx2">
                    <a:lumMod val="90000"/>
                  </a:schemeClr>
                </a:solidFill>
                <a:latin typeface="Outfit Extra Bold" pitchFamily="34" charset="0"/>
              </a:rPr>
              <a:t> </a:t>
            </a:r>
            <a:r>
              <a:rPr lang="en-US" sz="2400" b="1" dirty="0" err="1">
                <a:solidFill>
                  <a:schemeClr val="tx2">
                    <a:lumMod val="90000"/>
                  </a:schemeClr>
                </a:solidFill>
                <a:latin typeface="Outfit Extra Bold" pitchFamily="34" charset="0"/>
              </a:rPr>
              <a:t>passe</a:t>
            </a:r>
            <a:endParaRPr lang="en-US" sz="2400" dirty="0">
              <a:solidFill>
                <a:schemeClr val="tx2">
                  <a:lumMod val="90000"/>
                </a:schemeClr>
              </a:solidFill>
            </a:endParaRPr>
          </a:p>
        </p:txBody>
      </p:sp>
      <p:sp>
        <p:nvSpPr>
          <p:cNvPr id="9" name="Rectangle 8">
            <a:extLst>
              <a:ext uri="{FF2B5EF4-FFF2-40B4-BE49-F238E27FC236}">
                <a16:creationId xmlns:a16="http://schemas.microsoft.com/office/drawing/2014/main" id="{4F4BB9CA-5D31-48F5-B4D1-E6F9E3967F0B}"/>
              </a:ext>
            </a:extLst>
          </p:cNvPr>
          <p:cNvSpPr/>
          <p:nvPr/>
        </p:nvSpPr>
        <p:spPr>
          <a:xfrm>
            <a:off x="6965481" y="2821552"/>
            <a:ext cx="4228699" cy="3139321"/>
          </a:xfrm>
          <a:prstGeom prst="rect">
            <a:avLst/>
          </a:prstGeom>
        </p:spPr>
        <p:txBody>
          <a:bodyPr wrap="square">
            <a:spAutoFit/>
          </a:bodyPr>
          <a:lstStyle/>
          <a:p>
            <a:pPr>
              <a:buFont typeface="Arial" panose="020B0604020202020204" pitchFamily="34" charset="0"/>
              <a:buChar char="•"/>
            </a:pPr>
            <a:r>
              <a:rPr lang="fr-FR" dirty="0">
                <a:latin typeface="Arial" panose="020B0604020202020204" pitchFamily="34" charset="0"/>
                <a:cs typeface="Arial" panose="020B0604020202020204" pitchFamily="34" charset="0"/>
              </a:rPr>
              <a:t>Relecture du programme assembleur</a:t>
            </a:r>
          </a:p>
          <a:p>
            <a:pPr>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Recherche de l’opcode</a:t>
            </a:r>
          </a:p>
          <a:p>
            <a:pPr>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Détermination du mode d’adressage</a:t>
            </a:r>
          </a:p>
          <a:p>
            <a:pPr>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Résolution des symboles</a:t>
            </a:r>
          </a:p>
          <a:p>
            <a:pPr>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Génération des octets</a:t>
            </a:r>
          </a:p>
          <a:p>
            <a:pPr>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Écriture en mémoire</a:t>
            </a:r>
          </a:p>
        </p:txBody>
      </p:sp>
      <p:sp>
        <p:nvSpPr>
          <p:cNvPr id="10" name="Rectangle 9">
            <a:extLst>
              <a:ext uri="{FF2B5EF4-FFF2-40B4-BE49-F238E27FC236}">
                <a16:creationId xmlns:a16="http://schemas.microsoft.com/office/drawing/2014/main" id="{CF1A2B30-940A-4AE1-BF3F-EB9AC431BCB0}"/>
              </a:ext>
            </a:extLst>
          </p:cNvPr>
          <p:cNvSpPr/>
          <p:nvPr/>
        </p:nvSpPr>
        <p:spPr>
          <a:xfrm>
            <a:off x="6965481" y="2247178"/>
            <a:ext cx="3788217" cy="369332"/>
          </a:xfrm>
          <a:prstGeom prst="rect">
            <a:avLst/>
          </a:prstGeom>
        </p:spPr>
        <p:txBody>
          <a:bodyPr wrap="none">
            <a:spAutoFit/>
          </a:bodyPr>
          <a:lstStyle/>
          <a:p>
            <a:r>
              <a:rPr lang="fr-FR" b="1" dirty="0">
                <a:solidFill>
                  <a:srgbClr val="CB8851"/>
                </a:solidFill>
                <a:latin typeface="Arial" panose="020B0604020202020204" pitchFamily="34" charset="0"/>
                <a:cs typeface="Arial" panose="020B0604020202020204" pitchFamily="34" charset="0"/>
              </a:rPr>
              <a:t>Objectif : </a:t>
            </a:r>
            <a:r>
              <a:rPr lang="fr-FR" dirty="0">
                <a:latin typeface="Arial" panose="020B0604020202020204" pitchFamily="34" charset="0"/>
                <a:cs typeface="Arial" panose="020B0604020202020204" pitchFamily="34" charset="0"/>
              </a:rPr>
              <a:t>générer le code machine</a:t>
            </a:r>
          </a:p>
        </p:txBody>
      </p:sp>
    </p:spTree>
    <p:extLst>
      <p:ext uri="{BB962C8B-B14F-4D97-AF65-F5344CB8AC3E}">
        <p14:creationId xmlns:p14="http://schemas.microsoft.com/office/powerpoint/2010/main" val="121703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73F396F9-E004-440B-A32A-B32DAF2A673B}"/>
              </a:ext>
            </a:extLst>
          </p:cNvPr>
          <p:cNvSpPr/>
          <p:nvPr/>
        </p:nvSpPr>
        <p:spPr>
          <a:xfrm>
            <a:off x="1434284" y="1687396"/>
            <a:ext cx="7217224" cy="710323"/>
          </a:xfrm>
          <a:prstGeom prst="rect">
            <a:avLst/>
          </a:prstGeom>
          <a:noFill/>
          <a:ln/>
        </p:spPr>
        <p:txBody>
          <a:bodyPr wrap="none" lIns="0" tIns="0" rIns="0" bIns="0" rtlCol="0" anchor="t"/>
          <a:lstStyle/>
          <a:p>
            <a:pPr marL="0" indent="0" algn="l">
              <a:lnSpc>
                <a:spcPts val="5550"/>
              </a:lnSpc>
              <a:buNone/>
            </a:pPr>
            <a:r>
              <a:rPr lang="en-US" sz="4000" b="1" dirty="0" err="1">
                <a:solidFill>
                  <a:schemeClr val="tx2">
                    <a:lumMod val="90000"/>
                  </a:schemeClr>
                </a:solidFill>
                <a:latin typeface="Outfit Extra Bold" pitchFamily="34" charset="0"/>
              </a:rPr>
              <a:t>Etape</a:t>
            </a:r>
            <a:r>
              <a:rPr lang="en-US" sz="4000" b="1" dirty="0">
                <a:solidFill>
                  <a:schemeClr val="tx2">
                    <a:lumMod val="90000"/>
                  </a:schemeClr>
                </a:solidFill>
                <a:latin typeface="Outfit Extra Bold" pitchFamily="34" charset="0"/>
              </a:rPr>
              <a:t> 4: Verification Finale</a:t>
            </a:r>
            <a:endParaRPr lang="en-US" sz="4000" dirty="0">
              <a:solidFill>
                <a:schemeClr val="tx2">
                  <a:lumMod val="90000"/>
                </a:schemeClr>
              </a:solidFill>
            </a:endParaRPr>
          </a:p>
        </p:txBody>
      </p:sp>
      <p:sp>
        <p:nvSpPr>
          <p:cNvPr id="5" name="Rectangle 4">
            <a:extLst>
              <a:ext uri="{FF2B5EF4-FFF2-40B4-BE49-F238E27FC236}">
                <a16:creationId xmlns:a16="http://schemas.microsoft.com/office/drawing/2014/main" id="{CFA3F855-B35D-4714-ADD4-F57FA1B5EB24}"/>
              </a:ext>
            </a:extLst>
          </p:cNvPr>
          <p:cNvSpPr/>
          <p:nvPr/>
        </p:nvSpPr>
        <p:spPr>
          <a:xfrm>
            <a:off x="1873717" y="2792355"/>
            <a:ext cx="4050511" cy="2246769"/>
          </a:xfrm>
          <a:prstGeom prst="rect">
            <a:avLst/>
          </a:prstGeom>
        </p:spPr>
        <p:txBody>
          <a:bodyPr wrap="square">
            <a:spAutoFit/>
          </a:bodyPr>
          <a:lstStyle/>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Symboles non définis</a:t>
            </a:r>
          </a:p>
          <a:p>
            <a:pPr>
              <a:buFont typeface="Arial" panose="020B0604020202020204" pitchFamily="34" charset="0"/>
              <a:buChar char="•"/>
            </a:pPr>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Débordements mémoire</a:t>
            </a:r>
          </a:p>
          <a:p>
            <a:pPr>
              <a:buFont typeface="Arial" panose="020B0604020202020204" pitchFamily="34" charset="0"/>
              <a:buChar char="•"/>
            </a:pPr>
            <a:endParaRPr lang="fr-FR" sz="2000" dirty="0">
              <a:solidFill>
                <a:schemeClr val="tx1">
                  <a:lumMod val="9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fr-FR" sz="2000" dirty="0">
                <a:solidFill>
                  <a:schemeClr val="tx1">
                    <a:lumMod val="95000"/>
                  </a:schemeClr>
                </a:solidFill>
                <a:latin typeface="Arial" panose="020B0604020202020204" pitchFamily="34" charset="0"/>
                <a:cs typeface="Arial" panose="020B0604020202020204" pitchFamily="34" charset="0"/>
              </a:rPr>
              <a:t>Modes d’adressage invalides</a:t>
            </a:r>
          </a:p>
          <a:p>
            <a:pPr>
              <a:buFont typeface="Arial" panose="020B0604020202020204" pitchFamily="34" charset="0"/>
              <a:buChar char="•"/>
            </a:pPr>
            <a:endParaRPr lang="fr-FR" sz="2000" dirty="0">
              <a:solidFill>
                <a:schemeClr val="tx1">
                  <a:lumMod val="95000"/>
                </a:schemeClr>
              </a:solidFill>
              <a:latin typeface="Arial" panose="020B0604020202020204" pitchFamily="34" charset="0"/>
              <a:cs typeface="Arial" panose="020B0604020202020204" pitchFamily="34" charset="0"/>
            </a:endParaRPr>
          </a:p>
          <a:p>
            <a:r>
              <a:rPr lang="fr-FR" sz="2000" dirty="0">
                <a:solidFill>
                  <a:schemeClr val="tx1">
                    <a:lumMod val="95000"/>
                  </a:schemeClr>
                </a:solidFill>
                <a:latin typeface="Arial" panose="020B0604020202020204" pitchFamily="34" charset="0"/>
                <a:cs typeface="Arial" panose="020B0604020202020204" pitchFamily="34" charset="0"/>
              </a:rPr>
              <a:t> </a:t>
            </a:r>
          </a:p>
        </p:txBody>
      </p:sp>
      <p:sp>
        <p:nvSpPr>
          <p:cNvPr id="6" name="Rectangle 5">
            <a:extLst>
              <a:ext uri="{FF2B5EF4-FFF2-40B4-BE49-F238E27FC236}">
                <a16:creationId xmlns:a16="http://schemas.microsoft.com/office/drawing/2014/main" id="{1598E051-596F-4E3D-84E7-E4F49815E408}"/>
              </a:ext>
            </a:extLst>
          </p:cNvPr>
          <p:cNvSpPr/>
          <p:nvPr/>
        </p:nvSpPr>
        <p:spPr>
          <a:xfrm>
            <a:off x="6984734" y="2792355"/>
            <a:ext cx="3333549" cy="1477328"/>
          </a:xfrm>
          <a:prstGeom prst="rect">
            <a:avLst/>
          </a:prstGeom>
        </p:spPr>
        <p:txBody>
          <a:bodyPr wrap="square">
            <a:spAutoFit/>
          </a:bodyPr>
          <a:lstStyle/>
          <a:p>
            <a:r>
              <a:rPr lang="fr-FR" dirty="0">
                <a:solidFill>
                  <a:schemeClr val="tx1">
                    <a:lumMod val="95000"/>
                  </a:schemeClr>
                </a:solidFill>
                <a:latin typeface="Arial" panose="020B0604020202020204" pitchFamily="34" charset="0"/>
                <a:cs typeface="Arial" panose="020B0604020202020204" pitchFamily="34" charset="0"/>
              </a:rPr>
              <a:t>En cas d’erreur : </a:t>
            </a:r>
          </a:p>
          <a:p>
            <a:endParaRPr lang="fr-FR" dirty="0">
              <a:solidFill>
                <a:schemeClr val="tx1">
                  <a:lumMod val="95000"/>
                </a:schemeClr>
              </a:solidFill>
              <a:latin typeface="Arial" panose="020B0604020202020204" pitchFamily="34" charset="0"/>
              <a:cs typeface="Arial" panose="020B0604020202020204" pitchFamily="34" charset="0"/>
            </a:endParaRPr>
          </a:p>
          <a:p>
            <a:r>
              <a:rPr lang="fr-FR" dirty="0">
                <a:solidFill>
                  <a:schemeClr val="tx1">
                    <a:lumMod val="95000"/>
                  </a:schemeClr>
                </a:solidFill>
                <a:latin typeface="Arial" panose="020B0604020202020204" pitchFamily="34" charset="0"/>
                <a:cs typeface="Arial" panose="020B0604020202020204" pitchFamily="34" charset="0"/>
              </a:rPr>
              <a:t>-message explicite</a:t>
            </a:r>
          </a:p>
          <a:p>
            <a:endParaRPr lang="fr-FR" dirty="0">
              <a:solidFill>
                <a:schemeClr val="tx1">
                  <a:lumMod val="95000"/>
                </a:schemeClr>
              </a:solidFill>
              <a:latin typeface="Arial" panose="020B0604020202020204" pitchFamily="34" charset="0"/>
              <a:cs typeface="Arial" panose="020B0604020202020204" pitchFamily="34" charset="0"/>
            </a:endParaRPr>
          </a:p>
          <a:p>
            <a:r>
              <a:rPr lang="fr-FR" dirty="0">
                <a:solidFill>
                  <a:schemeClr val="tx1">
                    <a:lumMod val="95000"/>
                  </a:schemeClr>
                </a:solidFill>
                <a:latin typeface="Arial" panose="020B0604020202020204" pitchFamily="34" charset="0"/>
                <a:cs typeface="Arial" panose="020B0604020202020204" pitchFamily="34" charset="0"/>
              </a:rPr>
              <a:t>-arrêt de la compilation</a:t>
            </a:r>
          </a:p>
        </p:txBody>
      </p:sp>
    </p:spTree>
    <p:extLst>
      <p:ext uri="{BB962C8B-B14F-4D97-AF65-F5344CB8AC3E}">
        <p14:creationId xmlns:p14="http://schemas.microsoft.com/office/powerpoint/2010/main" val="3971191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0D27503F-AF49-4194-9870-E59A7E1AD0D2}"/>
              </a:ext>
            </a:extLst>
          </p:cNvPr>
          <p:cNvSpPr/>
          <p:nvPr/>
        </p:nvSpPr>
        <p:spPr>
          <a:xfrm>
            <a:off x="4706011" y="1283134"/>
            <a:ext cx="2779978" cy="710323"/>
          </a:xfrm>
          <a:prstGeom prst="rect">
            <a:avLst/>
          </a:prstGeom>
          <a:noFill/>
          <a:ln/>
        </p:spPr>
        <p:txBody>
          <a:bodyPr wrap="none" lIns="0" tIns="0" rIns="0" bIns="0" rtlCol="0" anchor="t"/>
          <a:lstStyle/>
          <a:p>
            <a:pPr marL="0" indent="0" algn="l">
              <a:lnSpc>
                <a:spcPts val="5550"/>
              </a:lnSpc>
              <a:buNone/>
            </a:pPr>
            <a:r>
              <a:rPr lang="en-US" sz="4450" b="1" dirty="0">
                <a:solidFill>
                  <a:srgbClr val="CB8851"/>
                </a:solidFill>
                <a:latin typeface="Outfit Extra Bold" pitchFamily="34" charset="0"/>
              </a:rPr>
              <a:t>Resumé</a:t>
            </a:r>
            <a:endParaRPr lang="en-US" sz="4450" dirty="0">
              <a:solidFill>
                <a:srgbClr val="CB8851"/>
              </a:solidFill>
            </a:endParaRPr>
          </a:p>
        </p:txBody>
      </p:sp>
      <p:sp>
        <p:nvSpPr>
          <p:cNvPr id="5" name="Rectangle 4">
            <a:extLst>
              <a:ext uri="{FF2B5EF4-FFF2-40B4-BE49-F238E27FC236}">
                <a16:creationId xmlns:a16="http://schemas.microsoft.com/office/drawing/2014/main" id="{5A2FD8F0-715A-4A53-8039-73262975E127}"/>
              </a:ext>
            </a:extLst>
          </p:cNvPr>
          <p:cNvSpPr/>
          <p:nvPr/>
        </p:nvSpPr>
        <p:spPr>
          <a:xfrm>
            <a:off x="4426878" y="2230979"/>
            <a:ext cx="3844000" cy="3416320"/>
          </a:xfrm>
          <a:prstGeom prst="rect">
            <a:avLst/>
          </a:prstGeom>
        </p:spPr>
        <p:txBody>
          <a:bodyPr wrap="square">
            <a:spAutoFit/>
          </a:bodyPr>
          <a:lstStyle/>
          <a:p>
            <a:r>
              <a:rPr lang="fr-FR" dirty="0">
                <a:latin typeface="Arial" panose="020B0604020202020204" pitchFamily="34" charset="0"/>
                <a:cs typeface="Arial" panose="020B0604020202020204" pitchFamily="34" charset="0"/>
              </a:rPr>
              <a:t>Lire fichier source</a:t>
            </a:r>
          </a:p>
          <a:p>
            <a:r>
              <a:rPr lang="fr-FR" dirty="0">
                <a:latin typeface="Arial" panose="020B0604020202020204" pitchFamily="34" charset="0"/>
                <a:cs typeface="Arial" panose="020B0604020202020204" pitchFamily="34" charset="0"/>
              </a:rPr>
              <a:t>PC ← adresse initiale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Première passe :</a:t>
            </a:r>
          </a:p>
          <a:p>
            <a:r>
              <a:rPr lang="fr-FR" dirty="0">
                <a:latin typeface="Arial" panose="020B0604020202020204" pitchFamily="34" charset="0"/>
                <a:cs typeface="Arial" panose="020B0604020202020204" pitchFamily="34" charset="0"/>
              </a:rPr>
              <a:t>  construire la table des symboles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Deuxième passe :</a:t>
            </a:r>
          </a:p>
          <a:p>
            <a:r>
              <a:rPr lang="fr-FR" dirty="0">
                <a:latin typeface="Arial" panose="020B0604020202020204" pitchFamily="34" charset="0"/>
                <a:cs typeface="Arial" panose="020B0604020202020204" pitchFamily="34" charset="0"/>
              </a:rPr>
              <a:t>  générer le code machine</a:t>
            </a:r>
          </a:p>
          <a:p>
            <a:r>
              <a:rPr lang="fr-FR" dirty="0">
                <a:latin typeface="Arial" panose="020B0604020202020204" pitchFamily="34" charset="0"/>
                <a:cs typeface="Arial" panose="020B0604020202020204" pitchFamily="34" charset="0"/>
              </a:rPr>
              <a:t>  écrire en mémoire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Si aucune erreur :</a:t>
            </a:r>
          </a:p>
          <a:p>
            <a:r>
              <a:rPr lang="fr-FR" dirty="0">
                <a:latin typeface="Arial" panose="020B0604020202020204" pitchFamily="34" charset="0"/>
                <a:cs typeface="Arial" panose="020B0604020202020204" pitchFamily="34" charset="0"/>
              </a:rPr>
              <a:t>  compilation réussie</a:t>
            </a:r>
          </a:p>
        </p:txBody>
      </p:sp>
    </p:spTree>
    <p:extLst>
      <p:ext uri="{BB962C8B-B14F-4D97-AF65-F5344CB8AC3E}">
        <p14:creationId xmlns:p14="http://schemas.microsoft.com/office/powerpoint/2010/main" val="157321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4D0E5D-9743-400F-9E10-CC9EEA9F7867}"/>
              </a:ext>
            </a:extLst>
          </p:cNvPr>
          <p:cNvSpPr>
            <a:spLocks noGrp="1"/>
          </p:cNvSpPr>
          <p:nvPr>
            <p:ph type="title"/>
          </p:nvPr>
        </p:nvSpPr>
        <p:spPr>
          <a:xfrm>
            <a:off x="1141412" y="420529"/>
            <a:ext cx="10537293" cy="1478570"/>
          </a:xfrm>
        </p:spPr>
        <p:txBody>
          <a:bodyPr>
            <a:normAutofit/>
          </a:bodyPr>
          <a:lstStyle/>
          <a:p>
            <a:r>
              <a:rPr lang="fr-FR" sz="4000" b="1" dirty="0"/>
              <a:t>FONCTIONNEMENT INTERNE DU SIMULATEUR </a:t>
            </a:r>
          </a:p>
        </p:txBody>
      </p:sp>
      <p:sp>
        <p:nvSpPr>
          <p:cNvPr id="5" name="Rectangle 1">
            <a:extLst>
              <a:ext uri="{FF2B5EF4-FFF2-40B4-BE49-F238E27FC236}">
                <a16:creationId xmlns:a16="http://schemas.microsoft.com/office/drawing/2014/main" id="{60173147-FFC0-466C-A592-AC38A062D081}"/>
              </a:ext>
            </a:extLst>
          </p:cNvPr>
          <p:cNvSpPr>
            <a:spLocks noChangeArrowheads="1"/>
          </p:cNvSpPr>
          <p:nvPr/>
        </p:nvSpPr>
        <p:spPr bwMode="auto">
          <a:xfrm>
            <a:off x="1141412" y="2907928"/>
            <a:ext cx="462412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Structuration en plusieurs packages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asm</a:t>
            </a:r>
            <a:r>
              <a:rPr kumimoji="0" lang="fr-FR" altLang="fr-FR" b="0" i="1"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assembleur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cpu</a:t>
            </a:r>
            <a:r>
              <a:rPr kumimoji="0" lang="fr-FR" altLang="fr-FR" b="0" i="1"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cœur du processeur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mem : gestion mémoire</a:t>
            </a:r>
          </a:p>
          <a:p>
            <a:pPr marL="0" marR="0" lvl="0" indent="0" algn="l" defTabSz="914400" rtl="0" eaLnBrk="0" fontAlgn="base" latinLnBrk="0" hangingPunct="0">
              <a:lnSpc>
                <a:spcPct val="100000"/>
              </a:lnSpc>
              <a:spcBef>
                <a:spcPct val="0"/>
              </a:spcBef>
              <a:spcAft>
                <a:spcPct val="0"/>
              </a:spcAft>
              <a:buClrTx/>
              <a:buSzTx/>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ui</a:t>
            </a: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interface graphique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utils</a:t>
            </a: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classes utilitaires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 name="Text 1">
            <a:extLst>
              <a:ext uri="{FF2B5EF4-FFF2-40B4-BE49-F238E27FC236}">
                <a16:creationId xmlns:a16="http://schemas.microsoft.com/office/drawing/2014/main" id="{DF0CE824-457E-4578-91F4-6F7D8B5ED101}"/>
              </a:ext>
            </a:extLst>
          </p:cNvPr>
          <p:cNvSpPr/>
          <p:nvPr/>
        </p:nvSpPr>
        <p:spPr>
          <a:xfrm>
            <a:off x="1387237" y="2058587"/>
            <a:ext cx="5483243" cy="713489"/>
          </a:xfrm>
          <a:prstGeom prst="rect">
            <a:avLst/>
          </a:prstGeom>
          <a:noFill/>
          <a:ln/>
        </p:spPr>
        <p:txBody>
          <a:bodyPr wrap="none" lIns="0" tIns="0" rIns="0" bIns="0" rtlCol="0" anchor="t"/>
          <a:lstStyle/>
          <a:p>
            <a:pPr marL="0" indent="0" algn="l">
              <a:lnSpc>
                <a:spcPts val="5550"/>
              </a:lnSpc>
              <a:buNone/>
            </a:pPr>
            <a:r>
              <a:rPr lang="en-US" sz="2600" b="1" dirty="0" err="1">
                <a:solidFill>
                  <a:srgbClr val="CB8851"/>
                </a:solidFill>
                <a:latin typeface="Outfit Extra Bold" pitchFamily="34" charset="0"/>
              </a:rPr>
              <a:t>Organisation</a:t>
            </a:r>
            <a:r>
              <a:rPr lang="en-US" sz="2600" b="1" dirty="0">
                <a:solidFill>
                  <a:srgbClr val="CB8851"/>
                </a:solidFill>
                <a:latin typeface="Outfit Extra Bold" pitchFamily="34" charset="0"/>
              </a:rPr>
              <a:t> du code </a:t>
            </a:r>
            <a:endParaRPr lang="en-US" sz="2600" dirty="0">
              <a:solidFill>
                <a:srgbClr val="CB8851"/>
              </a:solidFill>
            </a:endParaRPr>
          </a:p>
        </p:txBody>
      </p:sp>
      <p:sp>
        <p:nvSpPr>
          <p:cNvPr id="7" name="Text 1">
            <a:extLst>
              <a:ext uri="{FF2B5EF4-FFF2-40B4-BE49-F238E27FC236}">
                <a16:creationId xmlns:a16="http://schemas.microsoft.com/office/drawing/2014/main" id="{74920D74-3277-4D81-8B1F-EE114B3B42A3}"/>
              </a:ext>
            </a:extLst>
          </p:cNvPr>
          <p:cNvSpPr/>
          <p:nvPr/>
        </p:nvSpPr>
        <p:spPr>
          <a:xfrm>
            <a:off x="6870480" y="2097088"/>
            <a:ext cx="3991276" cy="671822"/>
          </a:xfrm>
          <a:prstGeom prst="rect">
            <a:avLst/>
          </a:prstGeom>
          <a:noFill/>
          <a:ln/>
        </p:spPr>
        <p:txBody>
          <a:bodyPr wrap="none" lIns="0" tIns="0" rIns="0" bIns="0" rtlCol="0" anchor="t"/>
          <a:lstStyle/>
          <a:p>
            <a:pPr marL="0" indent="0" algn="l">
              <a:lnSpc>
                <a:spcPts val="5550"/>
              </a:lnSpc>
              <a:buNone/>
            </a:pPr>
            <a:r>
              <a:rPr lang="en-US" sz="2600" b="1" dirty="0">
                <a:solidFill>
                  <a:srgbClr val="CB8851"/>
                </a:solidFill>
                <a:latin typeface="Outfit Extra Bold" pitchFamily="34" charset="0"/>
              </a:rPr>
              <a:t>Interaction entre modules</a:t>
            </a:r>
            <a:endParaRPr lang="en-US" sz="2600" dirty="0">
              <a:solidFill>
                <a:srgbClr val="CB8851"/>
              </a:solidFill>
            </a:endParaRPr>
          </a:p>
        </p:txBody>
      </p:sp>
      <p:sp>
        <p:nvSpPr>
          <p:cNvPr id="9" name="Rectangle 1">
            <a:extLst>
              <a:ext uri="{FF2B5EF4-FFF2-40B4-BE49-F238E27FC236}">
                <a16:creationId xmlns:a16="http://schemas.microsoft.com/office/drawing/2014/main" id="{808188F5-6A2A-4028-9D98-991325720D69}"/>
              </a:ext>
            </a:extLst>
          </p:cNvPr>
          <p:cNvSpPr>
            <a:spLocks noChangeArrowheads="1"/>
          </p:cNvSpPr>
          <p:nvPr/>
        </p:nvSpPr>
        <p:spPr bwMode="auto">
          <a:xfrm>
            <a:off x="6870480" y="2907928"/>
            <a:ext cx="432174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L’interface graphique observe et contrôle l’exécution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L’assembleur traduit le code source en code machine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Le CPU lit les instructions depuis la mémoire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La mémoire fournit les données et instructions</a:t>
            </a:r>
          </a:p>
        </p:txBody>
      </p:sp>
    </p:spTree>
    <p:extLst>
      <p:ext uri="{BB962C8B-B14F-4D97-AF65-F5344CB8AC3E}">
        <p14:creationId xmlns:p14="http://schemas.microsoft.com/office/powerpoint/2010/main" val="1450646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1EAD9F02-484F-4CDE-97A8-FED031A4E4E7}"/>
              </a:ext>
            </a:extLst>
          </p:cNvPr>
          <p:cNvSpPr/>
          <p:nvPr/>
        </p:nvSpPr>
        <p:spPr>
          <a:xfrm>
            <a:off x="1874964" y="1251710"/>
            <a:ext cx="2855548" cy="739727"/>
          </a:xfrm>
          <a:prstGeom prst="rect">
            <a:avLst/>
          </a:prstGeom>
          <a:noFill/>
          <a:ln/>
        </p:spPr>
        <p:txBody>
          <a:bodyPr wrap="none" lIns="0" tIns="0" rIns="0" bIns="0" rtlCol="0" anchor="t"/>
          <a:lstStyle/>
          <a:p>
            <a:pPr marL="0" indent="0" algn="l">
              <a:lnSpc>
                <a:spcPts val="5550"/>
              </a:lnSpc>
              <a:buNone/>
            </a:pPr>
            <a:r>
              <a:rPr lang="en-US" sz="2800" b="1" dirty="0">
                <a:solidFill>
                  <a:srgbClr val="CB8851"/>
                </a:solidFill>
                <a:latin typeface="Arial" panose="020B0604020202020204" pitchFamily="34" charset="0"/>
                <a:cs typeface="Arial" panose="020B0604020202020204" pitchFamily="34" charset="0"/>
              </a:rPr>
              <a:t>Classe Assembleur </a:t>
            </a:r>
            <a:endParaRPr lang="en-US" sz="2800" dirty="0">
              <a:solidFill>
                <a:srgbClr val="CB8851"/>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588C3A9C-35B2-4AEE-8243-8F76AF7AB769}"/>
              </a:ext>
            </a:extLst>
          </p:cNvPr>
          <p:cNvSpPr>
            <a:spLocks noChangeArrowheads="1"/>
          </p:cNvSpPr>
          <p:nvPr/>
        </p:nvSpPr>
        <p:spPr bwMode="auto">
          <a:xfrm>
            <a:off x="1584883" y="1991437"/>
            <a:ext cx="437307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Point d’entrée de l’assemblage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Lecture du fichier assembleur</a:t>
            </a:r>
          </a:p>
          <a:p>
            <a:pPr marL="0" marR="0" lvl="0" indent="0"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Découpage ligne par ligne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rPr>
              <a:t>Appel des classes d’analyse et de traduction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Écriture du code machine en mémoire</a:t>
            </a:r>
          </a:p>
        </p:txBody>
      </p:sp>
      <p:sp>
        <p:nvSpPr>
          <p:cNvPr id="5" name="Rectangle 1">
            <a:extLst>
              <a:ext uri="{FF2B5EF4-FFF2-40B4-BE49-F238E27FC236}">
                <a16:creationId xmlns:a16="http://schemas.microsoft.com/office/drawing/2014/main" id="{350817D9-F821-4602-946B-0FB4BBF3FBC4}"/>
              </a:ext>
            </a:extLst>
          </p:cNvPr>
          <p:cNvSpPr>
            <a:spLocks noChangeArrowheads="1"/>
          </p:cNvSpPr>
          <p:nvPr/>
        </p:nvSpPr>
        <p:spPr bwMode="auto">
          <a:xfrm>
            <a:off x="6971930" y="1299683"/>
            <a:ext cx="243519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Nom de l’instruction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Opérandes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Mode d’adressage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108ED860-1F98-4D81-AE30-9F08E6F5395B}"/>
              </a:ext>
            </a:extLst>
          </p:cNvPr>
          <p:cNvSpPr/>
          <p:nvPr/>
        </p:nvSpPr>
        <p:spPr>
          <a:xfrm>
            <a:off x="6962078" y="838018"/>
            <a:ext cx="2852063" cy="461665"/>
          </a:xfrm>
          <a:prstGeom prst="rect">
            <a:avLst/>
          </a:prstGeom>
        </p:spPr>
        <p:txBody>
          <a:bodyPr wrap="none">
            <a:spAutoFit/>
          </a:bodyPr>
          <a:lstStyle/>
          <a:p>
            <a:pPr lvl="0" defTabSz="914400" eaLnBrk="0" fontAlgn="base" hangingPunct="0">
              <a:spcBef>
                <a:spcPct val="0"/>
              </a:spcBef>
              <a:spcAft>
                <a:spcPct val="0"/>
              </a:spcAft>
            </a:pPr>
            <a:r>
              <a:rPr lang="fr-FR" altLang="fr-FR" sz="2400" b="1" dirty="0">
                <a:solidFill>
                  <a:srgbClr val="CB8851"/>
                </a:solidFill>
                <a:latin typeface="Arial" panose="020B0604020202020204" pitchFamily="34" charset="0"/>
                <a:cs typeface="Arial" panose="020B0604020202020204" pitchFamily="34" charset="0"/>
              </a:rPr>
              <a:t>Classe Instruction</a:t>
            </a:r>
          </a:p>
        </p:txBody>
      </p:sp>
      <p:sp>
        <p:nvSpPr>
          <p:cNvPr id="7" name="Rectangle 2">
            <a:extLst>
              <a:ext uri="{FF2B5EF4-FFF2-40B4-BE49-F238E27FC236}">
                <a16:creationId xmlns:a16="http://schemas.microsoft.com/office/drawing/2014/main" id="{614A51A5-5EED-4667-933F-29A557F5F5AD}"/>
              </a:ext>
            </a:extLst>
          </p:cNvPr>
          <p:cNvSpPr>
            <a:spLocks noChangeArrowheads="1"/>
          </p:cNvSpPr>
          <p:nvPr/>
        </p:nvSpPr>
        <p:spPr bwMode="auto">
          <a:xfrm>
            <a:off x="6971930" y="4420280"/>
            <a:ext cx="42062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Association instruction ↔ opcode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Gestion des variantes selon le mode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1E480105-7494-4DD3-8032-85B0833FF02C}"/>
              </a:ext>
            </a:extLst>
          </p:cNvPr>
          <p:cNvSpPr/>
          <p:nvPr/>
        </p:nvSpPr>
        <p:spPr>
          <a:xfrm>
            <a:off x="6962078" y="3958615"/>
            <a:ext cx="3359831" cy="461665"/>
          </a:xfrm>
          <a:prstGeom prst="rect">
            <a:avLst/>
          </a:prstGeom>
        </p:spPr>
        <p:txBody>
          <a:bodyPr wrap="square">
            <a:spAutoFit/>
          </a:bodyPr>
          <a:lstStyle/>
          <a:p>
            <a:pPr lvl="0" defTabSz="914400" eaLnBrk="0" fontAlgn="base" hangingPunct="0">
              <a:spcBef>
                <a:spcPct val="0"/>
              </a:spcBef>
              <a:spcAft>
                <a:spcPct val="0"/>
              </a:spcAft>
            </a:pPr>
            <a:r>
              <a:rPr lang="fr-FR" altLang="fr-FR" sz="2400" b="1" dirty="0">
                <a:solidFill>
                  <a:srgbClr val="CB8851"/>
                </a:solidFill>
                <a:latin typeface="Arial" panose="020B0604020202020204" pitchFamily="34" charset="0"/>
                <a:cs typeface="Arial" panose="020B0604020202020204" pitchFamily="34" charset="0"/>
              </a:rPr>
              <a:t>Classe </a:t>
            </a:r>
            <a:r>
              <a:rPr lang="fr-FR" altLang="fr-FR" sz="2400" b="1" dirty="0" err="1">
                <a:solidFill>
                  <a:srgbClr val="CB8851"/>
                </a:solidFill>
                <a:latin typeface="Arial" panose="020B0604020202020204" pitchFamily="34" charset="0"/>
                <a:cs typeface="Arial" panose="020B0604020202020204" pitchFamily="34" charset="0"/>
              </a:rPr>
              <a:t>TableOpcodes</a:t>
            </a:r>
            <a:endParaRPr lang="fr-FR" altLang="fr-FR" sz="2400" b="1" dirty="0">
              <a:solidFill>
                <a:srgbClr val="CB885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1392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9C54686-B138-4082-B0F8-B6EEE74234BF}"/>
              </a:ext>
            </a:extLst>
          </p:cNvPr>
          <p:cNvSpPr/>
          <p:nvPr/>
        </p:nvSpPr>
        <p:spPr>
          <a:xfrm>
            <a:off x="4307709" y="476191"/>
            <a:ext cx="3576576" cy="710323"/>
          </a:xfrm>
          <a:prstGeom prst="rect">
            <a:avLst/>
          </a:prstGeom>
          <a:noFill/>
          <a:ln/>
        </p:spPr>
        <p:txBody>
          <a:bodyPr wrap="none" lIns="0" tIns="0" rIns="0" bIns="0" rtlCol="0" anchor="t"/>
          <a:lstStyle/>
          <a:p>
            <a:pPr marL="0" indent="0" algn="l">
              <a:lnSpc>
                <a:spcPts val="5550"/>
              </a:lnSpc>
              <a:buNone/>
            </a:pPr>
            <a:r>
              <a:rPr lang="en-US" sz="2400" b="1" dirty="0">
                <a:solidFill>
                  <a:srgbClr val="CB8851"/>
                </a:solidFill>
                <a:latin typeface="Outfit Extra Bold" pitchFamily="34" charset="0"/>
              </a:rPr>
              <a:t>Classe ModeAdressage</a:t>
            </a:r>
            <a:endParaRPr lang="en-US" sz="2400" dirty="0">
              <a:solidFill>
                <a:srgbClr val="CB8851"/>
              </a:solidFill>
            </a:endParaRPr>
          </a:p>
        </p:txBody>
      </p:sp>
      <p:sp>
        <p:nvSpPr>
          <p:cNvPr id="3" name="Rectangle 1">
            <a:extLst>
              <a:ext uri="{FF2B5EF4-FFF2-40B4-BE49-F238E27FC236}">
                <a16:creationId xmlns:a16="http://schemas.microsoft.com/office/drawing/2014/main" id="{280049C4-41F9-4409-ADA5-46D4F80D8239}"/>
              </a:ext>
            </a:extLst>
          </p:cNvPr>
          <p:cNvSpPr>
            <a:spLocks noChangeArrowheads="1"/>
          </p:cNvSpPr>
          <p:nvPr/>
        </p:nvSpPr>
        <p:spPr bwMode="auto">
          <a:xfrm>
            <a:off x="3627932" y="981173"/>
            <a:ext cx="49361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endPar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Détermination du mode à partir de la syntaxe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Calcul de l’adresse effective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Génération des post-octets pour l’indexé</a:t>
            </a:r>
          </a:p>
        </p:txBody>
      </p:sp>
      <p:sp>
        <p:nvSpPr>
          <p:cNvPr id="4" name="Text 1">
            <a:extLst>
              <a:ext uri="{FF2B5EF4-FFF2-40B4-BE49-F238E27FC236}">
                <a16:creationId xmlns:a16="http://schemas.microsoft.com/office/drawing/2014/main" id="{78F6D32F-06E7-49C3-9923-F4994B9FCA1A}"/>
              </a:ext>
            </a:extLst>
          </p:cNvPr>
          <p:cNvSpPr/>
          <p:nvPr/>
        </p:nvSpPr>
        <p:spPr>
          <a:xfrm>
            <a:off x="4758072" y="3488289"/>
            <a:ext cx="2675852" cy="710323"/>
          </a:xfrm>
          <a:prstGeom prst="rect">
            <a:avLst/>
          </a:prstGeom>
          <a:noFill/>
          <a:ln/>
        </p:spPr>
        <p:txBody>
          <a:bodyPr wrap="none" lIns="0" tIns="0" rIns="0" bIns="0" rtlCol="0" anchor="t"/>
          <a:lstStyle/>
          <a:p>
            <a:pPr marL="0" indent="0" algn="l">
              <a:lnSpc>
                <a:spcPts val="5550"/>
              </a:lnSpc>
              <a:buNone/>
            </a:pPr>
            <a:r>
              <a:rPr lang="en-US" sz="2400" b="1" dirty="0">
                <a:solidFill>
                  <a:srgbClr val="CB8851"/>
                </a:solidFill>
                <a:latin typeface="Outfit Extra Bold" pitchFamily="34" charset="0"/>
              </a:rPr>
              <a:t>Classe CPU6809</a:t>
            </a:r>
            <a:endParaRPr lang="en-US" sz="2400" dirty="0">
              <a:solidFill>
                <a:srgbClr val="CB8851"/>
              </a:solidFill>
            </a:endParaRPr>
          </a:p>
        </p:txBody>
      </p:sp>
      <p:sp>
        <p:nvSpPr>
          <p:cNvPr id="5" name="Rectangle 1">
            <a:extLst>
              <a:ext uri="{FF2B5EF4-FFF2-40B4-BE49-F238E27FC236}">
                <a16:creationId xmlns:a16="http://schemas.microsoft.com/office/drawing/2014/main" id="{F1148C53-A1BC-4D0C-A6BD-4643658A9E79}"/>
              </a:ext>
            </a:extLst>
          </p:cNvPr>
          <p:cNvSpPr>
            <a:spLocks noChangeArrowheads="1"/>
          </p:cNvSpPr>
          <p:nvPr/>
        </p:nvSpPr>
        <p:spPr bwMode="auto">
          <a:xfrm>
            <a:off x="3913074" y="4198612"/>
            <a:ext cx="436584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Contient l’état interne du processeur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Registres : A, B, D, X, Y, U, S, PC, CCR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Méthode principale d’exécution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lumMod val="95000"/>
                  </a:schemeClr>
                </a:solidFill>
                <a:effectLst/>
                <a:latin typeface="Arial" panose="020B0604020202020204" pitchFamily="34" charset="0"/>
              </a:rPr>
              <a:t>Interaction directe avec la mémoire</a:t>
            </a:r>
          </a:p>
        </p:txBody>
      </p:sp>
    </p:spTree>
    <p:extLst>
      <p:ext uri="{BB962C8B-B14F-4D97-AF65-F5344CB8AC3E}">
        <p14:creationId xmlns:p14="http://schemas.microsoft.com/office/powerpoint/2010/main" val="1020270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AC599F1E-87C3-4CD9-93CD-9165D70C37D6}"/>
              </a:ext>
            </a:extLst>
          </p:cNvPr>
          <p:cNvSpPr/>
          <p:nvPr/>
        </p:nvSpPr>
        <p:spPr>
          <a:xfrm>
            <a:off x="818147" y="1920668"/>
            <a:ext cx="4680700" cy="710323"/>
          </a:xfrm>
          <a:prstGeom prst="rect">
            <a:avLst/>
          </a:prstGeom>
          <a:noFill/>
          <a:ln/>
        </p:spPr>
        <p:txBody>
          <a:bodyPr wrap="none" lIns="0" tIns="0" rIns="0" bIns="0" rtlCol="0" anchor="t"/>
          <a:lstStyle/>
          <a:p>
            <a:pPr marL="0" indent="0" algn="l">
              <a:lnSpc>
                <a:spcPts val="5550"/>
              </a:lnSpc>
              <a:buNone/>
            </a:pPr>
            <a:r>
              <a:rPr lang="en-US" sz="2400" b="1" dirty="0">
                <a:solidFill>
                  <a:srgbClr val="CB8851"/>
                </a:solidFill>
                <a:latin typeface="Outfit Extra Bold" pitchFamily="34" charset="0"/>
              </a:rPr>
              <a:t>Cycle </a:t>
            </a:r>
            <a:r>
              <a:rPr lang="en-US" sz="2400" b="1" dirty="0" err="1">
                <a:solidFill>
                  <a:srgbClr val="CB8851"/>
                </a:solidFill>
                <a:latin typeface="Outfit Extra Bold" pitchFamily="34" charset="0"/>
              </a:rPr>
              <a:t>d’execution</a:t>
            </a:r>
            <a:r>
              <a:rPr lang="en-US" sz="2400" b="1" dirty="0">
                <a:solidFill>
                  <a:srgbClr val="CB8851"/>
                </a:solidFill>
                <a:latin typeface="Outfit Extra Bold" pitchFamily="34" charset="0"/>
              </a:rPr>
              <a:t> dans le code</a:t>
            </a:r>
            <a:endParaRPr lang="en-US" sz="2400" dirty="0">
              <a:solidFill>
                <a:srgbClr val="CB8851"/>
              </a:solidFill>
            </a:endParaRPr>
          </a:p>
        </p:txBody>
      </p:sp>
      <p:sp>
        <p:nvSpPr>
          <p:cNvPr id="3" name="Rectangle 1">
            <a:extLst>
              <a:ext uri="{FF2B5EF4-FFF2-40B4-BE49-F238E27FC236}">
                <a16:creationId xmlns:a16="http://schemas.microsoft.com/office/drawing/2014/main" id="{EBA395DE-7640-4F34-8ECC-7A6154ADBBD6}"/>
              </a:ext>
            </a:extLst>
          </p:cNvPr>
          <p:cNvSpPr>
            <a:spLocks noChangeArrowheads="1"/>
          </p:cNvSpPr>
          <p:nvPr/>
        </p:nvSpPr>
        <p:spPr bwMode="auto">
          <a:xfrm>
            <a:off x="1055571" y="2769490"/>
            <a:ext cx="412923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a:t>
            </a:r>
            <a:r>
              <a:rPr kumimoji="0" lang="fr-FR" altLang="fr-FR" b="0" i="0" u="none" strike="noStrike" cap="none" normalizeH="0" baseline="0" dirty="0" err="1">
                <a:ln>
                  <a:noFill/>
                </a:ln>
                <a:solidFill>
                  <a:schemeClr val="tx1">
                    <a:lumMod val="95000"/>
                  </a:schemeClr>
                </a:solidFill>
                <a:effectLst/>
                <a:latin typeface="Arial" panose="020B0604020202020204" pitchFamily="34" charset="0"/>
                <a:cs typeface="Arial" panose="020B0604020202020204" pitchFamily="34" charset="0"/>
              </a:rPr>
              <a:t>fetch</a:t>
            </a: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 lecture de l’opcode via PC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a:t>
            </a:r>
            <a:r>
              <a:rPr kumimoji="0" lang="fr-FR" altLang="fr-FR" b="0" i="0" u="none" strike="noStrike" cap="none" normalizeH="0" baseline="0" dirty="0" err="1">
                <a:ln>
                  <a:noFill/>
                </a:ln>
                <a:solidFill>
                  <a:schemeClr val="tx1">
                    <a:lumMod val="95000"/>
                  </a:schemeClr>
                </a:solidFill>
                <a:effectLst/>
                <a:latin typeface="Arial" panose="020B0604020202020204" pitchFamily="34" charset="0"/>
                <a:cs typeface="Arial" panose="020B0604020202020204" pitchFamily="34" charset="0"/>
              </a:rPr>
              <a:t>decode</a:t>
            </a: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 identification de l’instruction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a:t>
            </a:r>
            <a:r>
              <a:rPr kumimoji="0" lang="fr-FR" altLang="fr-FR" b="0" i="0" u="none" strike="noStrike" cap="none" normalizeH="0" baseline="0" dirty="0" err="1">
                <a:ln>
                  <a:noFill/>
                </a:ln>
                <a:solidFill>
                  <a:schemeClr val="tx1">
                    <a:lumMod val="95000"/>
                  </a:schemeClr>
                </a:solidFill>
                <a:effectLst/>
                <a:latin typeface="Arial" panose="020B0604020202020204" pitchFamily="34" charset="0"/>
                <a:cs typeface="Arial" panose="020B0604020202020204" pitchFamily="34" charset="0"/>
              </a:rPr>
              <a:t>execute</a:t>
            </a: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 appel de la méthode associée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tx1">
                    <a:lumMod val="95000"/>
                  </a:schemeClr>
                </a:solidFill>
                <a:effectLst/>
                <a:latin typeface="Arial" panose="020B0604020202020204" pitchFamily="34" charset="0"/>
                <a:cs typeface="Arial" panose="020B0604020202020204" pitchFamily="34" charset="0"/>
              </a:rPr>
              <a:t> Mise à jour du PC et des flags</a:t>
            </a:r>
          </a:p>
        </p:txBody>
      </p:sp>
      <p:sp>
        <p:nvSpPr>
          <p:cNvPr id="4" name="Text 1">
            <a:extLst>
              <a:ext uri="{FF2B5EF4-FFF2-40B4-BE49-F238E27FC236}">
                <a16:creationId xmlns:a16="http://schemas.microsoft.com/office/drawing/2014/main" id="{46B77502-6E66-414A-A5B6-F9BC55BC2DDC}"/>
              </a:ext>
            </a:extLst>
          </p:cNvPr>
          <p:cNvSpPr/>
          <p:nvPr/>
        </p:nvSpPr>
        <p:spPr>
          <a:xfrm>
            <a:off x="6693154" y="1920668"/>
            <a:ext cx="4927305" cy="710323"/>
          </a:xfrm>
          <a:prstGeom prst="rect">
            <a:avLst/>
          </a:prstGeom>
          <a:noFill/>
          <a:ln/>
        </p:spPr>
        <p:txBody>
          <a:bodyPr wrap="none" lIns="0" tIns="0" rIns="0" bIns="0" rtlCol="0" anchor="t"/>
          <a:lstStyle/>
          <a:p>
            <a:pPr marL="0" indent="0" algn="l">
              <a:lnSpc>
                <a:spcPts val="5550"/>
              </a:lnSpc>
              <a:buNone/>
            </a:pPr>
            <a:r>
              <a:rPr lang="en-US" sz="2400" b="1" dirty="0" err="1">
                <a:solidFill>
                  <a:srgbClr val="CB8851"/>
                </a:solidFill>
                <a:latin typeface="Outfit Extra Bold" pitchFamily="34" charset="0"/>
              </a:rPr>
              <a:t>Implémentation</a:t>
            </a:r>
            <a:r>
              <a:rPr lang="en-US" sz="2400" b="1" dirty="0">
                <a:solidFill>
                  <a:srgbClr val="CB8851"/>
                </a:solidFill>
                <a:latin typeface="Outfit Extra Bold" pitchFamily="34" charset="0"/>
              </a:rPr>
              <a:t> des Instructions</a:t>
            </a:r>
            <a:endParaRPr lang="en-US" sz="2400" dirty="0">
              <a:solidFill>
                <a:srgbClr val="CB8851"/>
              </a:solidFill>
            </a:endParaRPr>
          </a:p>
        </p:txBody>
      </p:sp>
      <p:sp>
        <p:nvSpPr>
          <p:cNvPr id="5" name="Rectangle 1">
            <a:extLst>
              <a:ext uri="{FF2B5EF4-FFF2-40B4-BE49-F238E27FC236}">
                <a16:creationId xmlns:a16="http://schemas.microsoft.com/office/drawing/2014/main" id="{EA19D73E-A4E4-4E43-A954-B1A237A59E4B}"/>
              </a:ext>
            </a:extLst>
          </p:cNvPr>
          <p:cNvSpPr>
            <a:spLocks noChangeArrowheads="1"/>
          </p:cNvSpPr>
          <p:nvPr/>
        </p:nvSpPr>
        <p:spPr bwMode="auto">
          <a:xfrm>
            <a:off x="6693154" y="2630991"/>
            <a:ext cx="44432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Une méthode par instruction ou par famille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Accès mémoire via méthodes dédiées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Mise à jour systématique du registre CCR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Instructions arithmétiques, logiques, branchements</a:t>
            </a:r>
          </a:p>
        </p:txBody>
      </p:sp>
    </p:spTree>
    <p:extLst>
      <p:ext uri="{BB962C8B-B14F-4D97-AF65-F5344CB8AC3E}">
        <p14:creationId xmlns:p14="http://schemas.microsoft.com/office/powerpoint/2010/main" val="803226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C609D-3EF4-43A9-A1A3-7C5FC3C0D661}"/>
              </a:ext>
            </a:extLst>
          </p:cNvPr>
          <p:cNvSpPr>
            <a:spLocks noGrp="1"/>
          </p:cNvSpPr>
          <p:nvPr>
            <p:ph type="title"/>
          </p:nvPr>
        </p:nvSpPr>
        <p:spPr>
          <a:xfrm>
            <a:off x="2922478" y="1414997"/>
            <a:ext cx="6347044" cy="1267828"/>
          </a:xfrm>
        </p:spPr>
        <p:txBody>
          <a:bodyPr>
            <a:normAutofit/>
          </a:bodyPr>
          <a:lstStyle/>
          <a:p>
            <a:r>
              <a:rPr lang="fr-FR" sz="4400" b="1" dirty="0"/>
              <a:t>FIN DE LA PRESENTATION</a:t>
            </a:r>
          </a:p>
        </p:txBody>
      </p:sp>
      <p:sp>
        <p:nvSpPr>
          <p:cNvPr id="3" name="Espace réservé du texte 2">
            <a:extLst>
              <a:ext uri="{FF2B5EF4-FFF2-40B4-BE49-F238E27FC236}">
                <a16:creationId xmlns:a16="http://schemas.microsoft.com/office/drawing/2014/main" id="{6D25FDED-93DB-426D-933E-48937C02BB05}"/>
              </a:ext>
            </a:extLst>
          </p:cNvPr>
          <p:cNvSpPr>
            <a:spLocks noGrp="1"/>
          </p:cNvSpPr>
          <p:nvPr>
            <p:ph type="body" idx="1"/>
          </p:nvPr>
        </p:nvSpPr>
        <p:spPr>
          <a:xfrm>
            <a:off x="4727215" y="4083518"/>
            <a:ext cx="2737570" cy="628901"/>
          </a:xfrm>
        </p:spPr>
        <p:txBody>
          <a:bodyPr>
            <a:normAutofit/>
          </a:bodyPr>
          <a:lstStyle/>
          <a:p>
            <a:r>
              <a:rPr lang="fr-FR" sz="2000" dirty="0">
                <a:solidFill>
                  <a:schemeClr val="tx1"/>
                </a:solidFill>
              </a:rPr>
              <a:t>Merci de l’avoir suivi</a:t>
            </a:r>
          </a:p>
        </p:txBody>
      </p:sp>
    </p:spTree>
    <p:extLst>
      <p:ext uri="{BB962C8B-B14F-4D97-AF65-F5344CB8AC3E}">
        <p14:creationId xmlns:p14="http://schemas.microsoft.com/office/powerpoint/2010/main" val="7061202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364</TotalTime>
  <Words>966</Words>
  <Application>Microsoft Office PowerPoint</Application>
  <PresentationFormat>Grand écran</PresentationFormat>
  <Paragraphs>193</Paragraphs>
  <Slides>20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20</vt:i4>
      </vt:variant>
    </vt:vector>
  </HeadingPairs>
  <TitlesOfParts>
    <vt:vector size="27" baseType="lpstr">
      <vt:lpstr>Arial</vt:lpstr>
      <vt:lpstr>Arimo</vt:lpstr>
      <vt:lpstr>Calibri</vt:lpstr>
      <vt:lpstr>Outfit Extra Bold</vt:lpstr>
      <vt:lpstr>Times New Roman</vt:lpstr>
      <vt:lpstr>Tw Cen MT</vt:lpstr>
      <vt:lpstr>Circuit</vt:lpstr>
      <vt:lpstr>Rapport de projet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FONCTIONNEMENT INTERNE DU SIMULATEUR </vt:lpstr>
      <vt:lpstr>Présentation PowerPoint</vt:lpstr>
      <vt:lpstr>Présentation PowerPoint</vt:lpstr>
      <vt:lpstr>Présentation PowerPoint</vt:lpstr>
      <vt:lpstr>FIN DE LA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29</cp:revision>
  <dcterms:created xsi:type="dcterms:W3CDTF">2025-12-24T22:23:30Z</dcterms:created>
  <dcterms:modified xsi:type="dcterms:W3CDTF">2025-12-25T04:28:55Z</dcterms:modified>
</cp:coreProperties>
</file>